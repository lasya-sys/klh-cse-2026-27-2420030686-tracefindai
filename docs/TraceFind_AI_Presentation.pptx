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440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Our project is TraceFind AI, an AI-powered tool that finds, explains and suggests fixes for security vulnerabilities in source code. Introduce each team member by name and roll number. (Edit the bracketed placeholders on this slide with your real details.)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TraceFind AI is a tool that reads source code the way a security reviewer would. It finds risky code, explains why it is risky in plain language, and suggests how to fix it, using trusted references like OWASP and CWE. It is built with Python, FastAPI, the GitHub API, Tree-sitter, code embeddings and LLMs. Note: the project is under development; this deck describes the design and expected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flaws are cheapest to fix when found early, but finding them is hard. Manual review needs expert knowledge and a lot of time. Traditional tools often produce many alerts without explaining them, which overwhelms beginners and small teams. Our project targets exactly these gaps.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goals we set for the project. Each goal maps to a part of the system: detection to Tree-sitter plus embeddings, explanation and fixes to the LLM, and standards mapping to OWASP and CWE.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teams use three main approaches: manual code review, static analysis tools (SAST), and pattern or rule scanners. All are useful, and they remain important. Our idea is not to replace them but to add AI-based explanation and context on top. Limitations listed here are general observations about these approaches.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TraceFind AI combines three ideas. Tree-sitter understands code structure, embeddings help find code similar to known risky patterns, and an LLM explains the risk in plain language. The LLM is guided by OWASP and CWE references. The results are potential vulnerabilities for a human to review, not guaranteed findings.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1: the user submits a GitHub repo URL or code in the frontend. 2: the frontend sends the request to the FastAPI backend. 3: the backend uses the GitHub API to fetch the files. 4: Tree-sitter parses the code into structured units such as functions. 5: an embedding model converts those units into vectors so risky-looking code can be shortlisted. 6: the LLM analyzes the shortlisted code, guided by OWASP and CWE references. 7: the vulnerability analysis results, with explanations and suggested fixes, are assembled. The report returns to the user through the backend and frontend.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each. Python is the main language. FastAPI builds the web API. The GitHub API lets us fetch repositories. Tree-sitter parses code into a syntax tree. Embeddings turn code into numbers so similar code can be compared. LLMs read the code and explain it. OWASP lists common web security risks (like the OWASP Top 10). CWE is a catalog of software weakness types, each with an ID.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in order. Step 1 the user gives a GitHub repo or code. Step 2 we fetch files with the GitHub API. Step 3 Tree-sitter splits the code into functions and classes. Step 4 embeddings help shortlist code that looks like known risky patterns. Step 5 the LLM, guided by OWASP and CWE, analyzes the shortlist. Step 6 the user receives a report with the risk, a CWE reference and a possible fix. A human should always review the findings.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expected outcomes and benefits, not measured results. We have not yet evaluated detection accuracy, and we do not claim any percentages. After testing, we plan to report real evaluation results. Explain the three columns: what the system should produce, why it helps, and where it could be used.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items are planned future work, not completed features. Automated fix generation would propose ready-to-apply patches. CI/CD integration would scan code on every commit or pull request. Multi-language support is possible because Tree-sitter supports many languages. Improved detection means better prompts, better embeddings and testing on benchmark datasets.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TraceFind AI aims to make code security review faster and easier to understand by combining Tree-sitter, embeddings, LLMs and OWASP/CWE guidance. It is a design under development, and results will be reported after evaluation.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426"/>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100" dirty="0">
                <a:solidFill>
                  <a:srgbClr val="A9B8D4"/>
                </a:solidFill>
              </a:rPr>
              <a:t>TraceFind AI  |  AI-Powered Code Vulnerability Detection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142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5.png"/><Relationship Id="rId4" Type="http://schemas.openxmlformats.org/officeDocument/2006/relationships/image" Target="../media/image19.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8.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23.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412480" y="548640"/>
            <a:ext cx="3840480" cy="3840480"/>
          </a:xfrm>
          <a:prstGeom prst="ellipse">
            <a:avLst/>
          </a:prstGeom>
          <a:solidFill>
            <a:srgbClr val="12213D"/>
          </a:solidFill>
          <a:ln w="12700">
            <a:solidFill>
              <a:srgbClr val="2F80ED"/>
            </a:solidFill>
            <a:prstDash val="solid"/>
          </a:ln>
        </p:spPr>
      </p:sp>
      <p:sp>
        <p:nvSpPr>
          <p:cNvPr id="3" name="Shape 1"/>
          <p:cNvSpPr/>
          <p:nvPr/>
        </p:nvSpPr>
        <p:spPr>
          <a:xfrm>
            <a:off x="9418320" y="2011680"/>
            <a:ext cx="2377440" cy="2377440"/>
          </a:xfrm>
          <a:prstGeom prst="ellipse">
            <a:avLst/>
          </a:prstGeom>
          <a:solidFill>
            <a:srgbClr val="1B3A66"/>
          </a:solidFill>
          <a:ln w="12700">
            <a:solidFill>
              <a:srgbClr val="2F80ED"/>
            </a:solidFill>
            <a:prstDash val="solid"/>
          </a:ln>
        </p:spPr>
      </p:sp>
      <p:sp>
        <p:nvSpPr>
          <p:cNvPr id="4" name="Shape 2"/>
          <p:cNvSpPr/>
          <p:nvPr/>
        </p:nvSpPr>
        <p:spPr>
          <a:xfrm>
            <a:off x="7680960" y="3291840"/>
            <a:ext cx="1463040" cy="1463040"/>
          </a:xfrm>
          <a:prstGeom prst="ellipse">
            <a:avLst/>
          </a:prstGeom>
          <a:solidFill>
            <a:srgbClr val="12213D"/>
          </a:solidFill>
          <a:ln w="12700">
            <a:solidFill>
              <a:srgbClr val="2F80ED"/>
            </a:solidFill>
            <a:prstDash val="solid"/>
          </a:ln>
        </p:spPr>
      </p:sp>
      <p:pic>
        <p:nvPicPr>
          <p:cNvPr id="5" name="Image 0" descr="preencoded.png"/>
          <p:cNvPicPr>
            <a:picLocks noChangeAspect="1"/>
          </p:cNvPicPr>
          <p:nvPr/>
        </p:nvPicPr>
        <p:blipFill>
          <a:blip r:embed="rId3"/>
          <a:stretch>
            <a:fillRect/>
          </a:stretch>
        </p:blipFill>
        <p:spPr>
          <a:xfrm>
            <a:off x="9144000" y="2148840"/>
            <a:ext cx="2011680" cy="2011680"/>
          </a:xfrm>
          <a:prstGeom prst="rect">
            <a:avLst/>
          </a:prstGeom>
        </p:spPr>
      </p:pic>
      <p:sp>
        <p:nvSpPr>
          <p:cNvPr id="6" name="Text 3"/>
          <p:cNvSpPr txBox="1"/>
          <p:nvPr/>
        </p:nvSpPr>
        <p:spPr>
          <a:xfrm>
            <a:off x="731520" y="822960"/>
            <a:ext cx="4572000" cy="320040"/>
          </a:xfrm>
          <a:prstGeom prst="rect">
            <a:avLst/>
          </a:prstGeom>
          <a:noFill/>
          <a:ln/>
        </p:spPr>
        <p:txBody>
          <a:bodyPr wrap="square" lIns="0" tIns="0" rIns="0" bIns="0" rtlCol="0" anchor="ctr"/>
          <a:lstStyle/>
          <a:p>
            <a:pPr marL="0" indent="0">
              <a:buNone/>
            </a:pPr>
            <a:r>
              <a:rPr lang="en-US" sz="1400" b="1" kern="0" spc="400" dirty="0">
                <a:solidFill>
                  <a:srgbClr val="00E5FF"/>
                </a:solidFill>
              </a:rPr>
              <a:t>PROJECT REVIEW</a:t>
            </a:r>
            <a:endParaRPr lang="en-US" sz="1400" dirty="0"/>
          </a:p>
        </p:txBody>
      </p:sp>
      <p:sp>
        <p:nvSpPr>
          <p:cNvPr id="7" name="Text 4"/>
          <p:cNvSpPr txBox="1"/>
          <p:nvPr/>
        </p:nvSpPr>
        <p:spPr>
          <a:xfrm>
            <a:off x="731520" y="1280160"/>
            <a:ext cx="7315200" cy="1005840"/>
          </a:xfrm>
          <a:prstGeom prst="rect">
            <a:avLst/>
          </a:prstGeom>
          <a:noFill/>
          <a:ln/>
        </p:spPr>
        <p:txBody>
          <a:bodyPr wrap="square" lIns="0" tIns="0" rIns="0" bIns="0" rtlCol="0" anchor="ctr"/>
          <a:lstStyle/>
          <a:p>
            <a:pPr marL="0" indent="0">
              <a:buNone/>
            </a:pPr>
            <a:r>
              <a:rPr lang="en-US" sz="6000" b="1" dirty="0">
                <a:solidFill>
                  <a:srgbClr val="FFFFFF"/>
                </a:solidFill>
              </a:rPr>
              <a:t>TraceFind </a:t>
            </a:r>
            <a:r>
              <a:rPr lang="en-US" sz="6000" b="1" dirty="0">
                <a:solidFill>
                  <a:srgbClr val="00E5FF"/>
                </a:solidFill>
              </a:rPr>
              <a:t>AI</a:t>
            </a:r>
            <a:endParaRPr lang="en-US" sz="6000" dirty="0"/>
          </a:p>
        </p:txBody>
      </p:sp>
      <p:sp>
        <p:nvSpPr>
          <p:cNvPr id="8" name="Text 5"/>
          <p:cNvSpPr txBox="1"/>
          <p:nvPr/>
        </p:nvSpPr>
        <p:spPr>
          <a:xfrm>
            <a:off x="731520" y="2286000"/>
            <a:ext cx="7772400" cy="548640"/>
          </a:xfrm>
          <a:prstGeom prst="rect">
            <a:avLst/>
          </a:prstGeom>
          <a:noFill/>
          <a:ln/>
        </p:spPr>
        <p:txBody>
          <a:bodyPr wrap="square" lIns="0" tIns="0" rIns="0" bIns="0" rtlCol="0" anchor="ctr"/>
          <a:lstStyle/>
          <a:p>
            <a:pPr marL="0" indent="0">
              <a:buNone/>
            </a:pPr>
            <a:r>
              <a:rPr lang="en-US" sz="2800" dirty="0">
                <a:solidFill>
                  <a:srgbClr val="FFFFFF"/>
                </a:solidFill>
              </a:rPr>
              <a:t>AI-Powered Code Vulnerability Detection</a:t>
            </a:r>
            <a:endParaRPr lang="en-US" sz="2800" dirty="0"/>
          </a:p>
        </p:txBody>
      </p:sp>
      <p:sp>
        <p:nvSpPr>
          <p:cNvPr id="9" name="Text 6"/>
          <p:cNvSpPr txBox="1"/>
          <p:nvPr/>
        </p:nvSpPr>
        <p:spPr>
          <a:xfrm>
            <a:off x="731520" y="2926080"/>
            <a:ext cx="7315200" cy="457200"/>
          </a:xfrm>
          <a:prstGeom prst="rect">
            <a:avLst/>
          </a:prstGeom>
          <a:noFill/>
          <a:ln/>
        </p:spPr>
        <p:txBody>
          <a:bodyPr wrap="square" lIns="0" tIns="0" rIns="0" bIns="0" rtlCol="0" anchor="ctr"/>
          <a:lstStyle/>
          <a:p>
            <a:pPr marL="0" indent="0">
              <a:buNone/>
            </a:pPr>
            <a:r>
              <a:rPr lang="en-US" sz="2000" i="1" dirty="0">
                <a:solidFill>
                  <a:srgbClr val="00E5FF"/>
                </a:solidFill>
              </a:rPr>
              <a:t>Identify. Analyze. Explain. Fix.</a:t>
            </a:r>
            <a:endParaRPr lang="en-US" sz="2000" dirty="0"/>
          </a:p>
        </p:txBody>
      </p:sp>
      <p:sp>
        <p:nvSpPr>
          <p:cNvPr id="10" name="Shape 7"/>
          <p:cNvSpPr/>
          <p:nvPr/>
        </p:nvSpPr>
        <p:spPr>
          <a:xfrm>
            <a:off x="731520" y="3931920"/>
            <a:ext cx="6766560" cy="1828800"/>
          </a:xfrm>
          <a:prstGeom prst="roundRect">
            <a:avLst>
              <a:gd name="adj" fmla="val 5000"/>
            </a:avLst>
          </a:prstGeom>
          <a:solidFill>
            <a:srgbClr val="12213D"/>
          </a:solidFill>
          <a:ln w="12700">
            <a:solidFill>
              <a:srgbClr val="1B3A66"/>
            </a:solidFill>
            <a:prstDash val="solid"/>
          </a:ln>
        </p:spPr>
      </p:sp>
      <p:sp>
        <p:nvSpPr>
          <p:cNvPr id="11" name="Text 8"/>
          <p:cNvSpPr txBox="1"/>
          <p:nvPr/>
        </p:nvSpPr>
        <p:spPr>
          <a:xfrm>
            <a:off x="1005840" y="4023360"/>
            <a:ext cx="6309360" cy="1645920"/>
          </a:xfrm>
          <a:prstGeom prst="rect">
            <a:avLst/>
          </a:prstGeom>
          <a:noFill/>
          <a:ln/>
        </p:spPr>
        <p:txBody>
          <a:bodyPr wrap="square" lIns="0" tIns="0" rIns="0" bIns="0" rtlCol="0" anchor="ctr"/>
          <a:lstStyle/>
          <a:p>
            <a:pPr marL="0" indent="0">
              <a:spcAft>
                <a:spcPts val="300"/>
              </a:spcAft>
              <a:buNone/>
            </a:pPr>
            <a:r>
              <a:rPr lang="en-US" sz="1600" b="1" dirty="0">
                <a:solidFill>
                  <a:srgbClr val="00E5FF"/>
                </a:solidFill>
              </a:rPr>
              <a:t>Team Members</a:t>
            </a:r>
            <a:endParaRPr lang="en-US" sz="1600" dirty="0"/>
          </a:p>
          <a:p>
            <a:pPr marL="0" indent="0">
              <a:spcAft>
                <a:spcPts val="300"/>
              </a:spcAft>
              <a:buNone/>
            </a:pPr>
            <a:r>
              <a:rPr lang="en-US" sz="1600" dirty="0">
                <a:solidFill>
                  <a:srgbClr val="FFFFFF"/>
                </a:solidFill>
              </a:rPr>
              <a:t>   Abhista  –  2420030743</a:t>
            </a:r>
          </a:p>
          <a:p>
            <a:pPr marL="0" indent="0">
              <a:spcAft>
                <a:spcPts val="300"/>
              </a:spcAft>
              <a:buNone/>
            </a:pPr>
            <a:r>
              <a:rPr lang="en-US" sz="1600" dirty="0">
                <a:solidFill>
                  <a:srgbClr val="FFFFFF"/>
                </a:solidFill>
              </a:rPr>
              <a:t>   Hansika –  2420030420</a:t>
            </a:r>
            <a:endParaRPr lang="en-US" sz="1600" dirty="0"/>
          </a:p>
          <a:p>
            <a:pPr marL="0" indent="0">
              <a:spcAft>
                <a:spcPts val="300"/>
              </a:spcAft>
              <a:buNone/>
            </a:pPr>
            <a:r>
              <a:rPr lang="en-US" sz="1600" dirty="0">
                <a:solidFill>
                  <a:srgbClr val="FFFFFF"/>
                </a:solidFill>
              </a:rPr>
              <a:t>   Lasya Geethika –  2420030686</a:t>
            </a:r>
            <a:endParaRPr lang="en-US" sz="1600" dirty="0"/>
          </a:p>
          <a:p>
            <a:pPr marL="0" indent="0">
              <a:spcAft>
                <a:spcPts val="300"/>
              </a:spcAft>
              <a:buNone/>
            </a:pPr>
            <a:r>
              <a:rPr lang="en-US" sz="1600" dirty="0">
                <a:solidFill>
                  <a:srgbClr val="A9B8D4"/>
                </a:solidFill>
              </a:rPr>
              <a:t>                                                                                                BATCH - 10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Introduction</a:t>
            </a:r>
            <a:endParaRPr lang="en-US" sz="3600" dirty="0"/>
          </a:p>
        </p:txBody>
      </p:sp>
      <p:sp>
        <p:nvSpPr>
          <p:cNvPr id="4" name="Text 1"/>
          <p:cNvSpPr txBox="1"/>
          <p:nvPr/>
        </p:nvSpPr>
        <p:spPr>
          <a:xfrm>
            <a:off x="548640" y="1463040"/>
            <a:ext cx="5852160" cy="4206240"/>
          </a:xfrm>
          <a:prstGeom prst="rect">
            <a:avLst/>
          </a:prstGeom>
          <a:noFill/>
          <a:ln/>
        </p:spPr>
        <p:txBody>
          <a:bodyPr wrap="square" rtlCol="0" anchor="t"/>
          <a:lstStyle/>
          <a:p>
            <a:pPr marL="342900" indent="-342900">
              <a:spcAft>
                <a:spcPts val="1400"/>
              </a:spcAft>
              <a:buSzPct val="100000"/>
              <a:buChar char="•"/>
            </a:pPr>
            <a:r>
              <a:rPr lang="en-US" sz="2000" dirty="0">
                <a:solidFill>
                  <a:srgbClr val="FFFFFF"/>
                </a:solidFill>
              </a:rPr>
              <a:t>An AI tool that finds security flaws in source code</a:t>
            </a:r>
            <a:endParaRPr lang="en-US" sz="2000" dirty="0"/>
          </a:p>
          <a:p>
            <a:pPr marL="342900" indent="-342900">
              <a:spcAft>
                <a:spcPts val="1400"/>
              </a:spcAft>
              <a:buSzPct val="100000"/>
              <a:buChar char="•"/>
            </a:pPr>
            <a:r>
              <a:rPr lang="en-US" sz="2000" dirty="0">
                <a:solidFill>
                  <a:srgbClr val="FFFFFF"/>
                </a:solidFill>
              </a:rPr>
              <a:t>Explains each risk in simple, beginner-friendly language</a:t>
            </a:r>
            <a:endParaRPr lang="en-US" sz="2000" dirty="0"/>
          </a:p>
          <a:p>
            <a:pPr marL="342900" indent="-342900">
              <a:spcAft>
                <a:spcPts val="1400"/>
              </a:spcAft>
              <a:buSzPct val="100000"/>
              <a:buChar char="•"/>
            </a:pPr>
            <a:r>
              <a:rPr lang="en-US" sz="2000" dirty="0">
                <a:solidFill>
                  <a:srgbClr val="FFFFFF"/>
                </a:solidFill>
              </a:rPr>
              <a:t>Suggests possible fixes using OWASP and CWE guidance</a:t>
            </a:r>
            <a:endParaRPr lang="en-US" sz="2000" dirty="0"/>
          </a:p>
          <a:p>
            <a:pPr marL="342900" indent="-342900">
              <a:spcAft>
                <a:spcPts val="1400"/>
              </a:spcAft>
              <a:buSzPct val="100000"/>
              <a:buChar char="•"/>
            </a:pPr>
            <a:r>
              <a:rPr lang="en-US" sz="2000" dirty="0">
                <a:solidFill>
                  <a:srgbClr val="FFFFFF"/>
                </a:solidFill>
              </a:rPr>
              <a:t>Accepts a GitHub repository or pasted source code</a:t>
            </a:r>
            <a:endParaRPr lang="en-US" sz="2000" dirty="0"/>
          </a:p>
          <a:p>
            <a:pPr marL="342900" indent="-342900">
              <a:spcAft>
                <a:spcPts val="1400"/>
              </a:spcAft>
              <a:buSzPct val="100000"/>
              <a:buChar char="•"/>
            </a:pPr>
            <a:r>
              <a:rPr lang="en-US" sz="2000" dirty="0">
                <a:solidFill>
                  <a:srgbClr val="FFFFFF"/>
                </a:solidFill>
              </a:rPr>
              <a:t>Built with Python, FastAPI, Tree-sitter, embeddings and LLMs</a:t>
            </a:r>
            <a:endParaRPr lang="en-US" sz="2000" dirty="0"/>
          </a:p>
        </p:txBody>
      </p:sp>
      <p:sp>
        <p:nvSpPr>
          <p:cNvPr id="5" name="Shape 2"/>
          <p:cNvSpPr/>
          <p:nvPr/>
        </p:nvSpPr>
        <p:spPr>
          <a:xfrm>
            <a:off x="7680960" y="1371600"/>
            <a:ext cx="3931920" cy="1280160"/>
          </a:xfrm>
          <a:prstGeom prst="roundRect">
            <a:avLst>
              <a:gd name="adj" fmla="val 8571"/>
            </a:avLst>
          </a:prstGeom>
          <a:solidFill>
            <a:srgbClr val="12213D"/>
          </a:solidFill>
          <a:ln w="12700">
            <a:solidFill>
              <a:srgbClr val="00E5FF"/>
            </a:solidFill>
            <a:prstDash val="solid"/>
          </a:ln>
        </p:spPr>
      </p:sp>
      <p:pic>
        <p:nvPicPr>
          <p:cNvPr id="6" name="Image 0" descr="preencoded.png"/>
          <p:cNvPicPr>
            <a:picLocks noChangeAspect="1"/>
          </p:cNvPicPr>
          <p:nvPr/>
        </p:nvPicPr>
        <p:blipFill>
          <a:blip r:embed="rId3"/>
          <a:stretch>
            <a:fillRect/>
          </a:stretch>
        </p:blipFill>
        <p:spPr>
          <a:xfrm>
            <a:off x="7955280" y="1691640"/>
            <a:ext cx="640080" cy="640080"/>
          </a:xfrm>
          <a:prstGeom prst="rect">
            <a:avLst/>
          </a:prstGeom>
        </p:spPr>
      </p:pic>
      <p:sp>
        <p:nvSpPr>
          <p:cNvPr id="7" name="Text 3"/>
          <p:cNvSpPr txBox="1"/>
          <p:nvPr/>
        </p:nvSpPr>
        <p:spPr>
          <a:xfrm>
            <a:off x="8778240" y="1371600"/>
            <a:ext cx="2743200" cy="1280160"/>
          </a:xfrm>
          <a:prstGeom prst="rect">
            <a:avLst/>
          </a:prstGeom>
          <a:noFill/>
          <a:ln/>
        </p:spPr>
        <p:txBody>
          <a:bodyPr wrap="square" lIns="0" tIns="0" rIns="0" bIns="0" rtlCol="0" anchor="ctr"/>
          <a:lstStyle/>
          <a:p>
            <a:pPr marL="0" indent="0">
              <a:buNone/>
            </a:pPr>
            <a:r>
              <a:rPr lang="en-US" sz="2200" b="1" dirty="0">
                <a:solidFill>
                  <a:srgbClr val="FFFFFF"/>
                </a:solidFill>
              </a:rPr>
              <a:t>Source Code</a:t>
            </a:r>
            <a:endParaRPr lang="en-US" sz="2200" dirty="0"/>
          </a:p>
        </p:txBody>
      </p:sp>
      <p:pic>
        <p:nvPicPr>
          <p:cNvPr id="8" name="Image 1" descr="preencoded.png"/>
          <p:cNvPicPr>
            <a:picLocks noChangeAspect="1"/>
          </p:cNvPicPr>
          <p:nvPr/>
        </p:nvPicPr>
        <p:blipFill>
          <a:blip r:embed="rId4"/>
          <a:stretch>
            <a:fillRect/>
          </a:stretch>
        </p:blipFill>
        <p:spPr>
          <a:xfrm>
            <a:off x="9464040" y="2743200"/>
            <a:ext cx="274320" cy="274320"/>
          </a:xfrm>
          <a:prstGeom prst="rect">
            <a:avLst/>
          </a:prstGeom>
        </p:spPr>
      </p:pic>
      <p:sp>
        <p:nvSpPr>
          <p:cNvPr id="9" name="Shape 4"/>
          <p:cNvSpPr/>
          <p:nvPr/>
        </p:nvSpPr>
        <p:spPr>
          <a:xfrm>
            <a:off x="7680960" y="3063240"/>
            <a:ext cx="3931920" cy="1280160"/>
          </a:xfrm>
          <a:prstGeom prst="roundRect">
            <a:avLst>
              <a:gd name="adj" fmla="val 8571"/>
            </a:avLst>
          </a:prstGeom>
          <a:solidFill>
            <a:srgbClr val="12213D"/>
          </a:solidFill>
          <a:ln w="12700">
            <a:solidFill>
              <a:srgbClr val="00E5FF"/>
            </a:solidFill>
            <a:prstDash val="solid"/>
          </a:ln>
        </p:spPr>
      </p:sp>
      <p:pic>
        <p:nvPicPr>
          <p:cNvPr id="10" name="Image 2" descr="preencoded.png"/>
          <p:cNvPicPr>
            <a:picLocks noChangeAspect="1"/>
          </p:cNvPicPr>
          <p:nvPr/>
        </p:nvPicPr>
        <p:blipFill>
          <a:blip r:embed="rId5"/>
          <a:stretch>
            <a:fillRect/>
          </a:stretch>
        </p:blipFill>
        <p:spPr>
          <a:xfrm>
            <a:off x="7955280" y="3383280"/>
            <a:ext cx="640080" cy="640080"/>
          </a:xfrm>
          <a:prstGeom prst="rect">
            <a:avLst/>
          </a:prstGeom>
        </p:spPr>
      </p:pic>
      <p:sp>
        <p:nvSpPr>
          <p:cNvPr id="11" name="Text 5"/>
          <p:cNvSpPr txBox="1"/>
          <p:nvPr/>
        </p:nvSpPr>
        <p:spPr>
          <a:xfrm>
            <a:off x="8778240" y="3063240"/>
            <a:ext cx="2743200" cy="1280160"/>
          </a:xfrm>
          <a:prstGeom prst="rect">
            <a:avLst/>
          </a:prstGeom>
          <a:noFill/>
          <a:ln/>
        </p:spPr>
        <p:txBody>
          <a:bodyPr wrap="square" lIns="0" tIns="0" rIns="0" bIns="0" rtlCol="0" anchor="ctr"/>
          <a:lstStyle/>
          <a:p>
            <a:pPr marL="0" indent="0">
              <a:buNone/>
            </a:pPr>
            <a:r>
              <a:rPr lang="en-US" sz="2200" b="1" dirty="0">
                <a:solidFill>
                  <a:srgbClr val="FFFFFF"/>
                </a:solidFill>
              </a:rPr>
              <a:t>AI Analysis</a:t>
            </a:r>
            <a:endParaRPr lang="en-US" sz="2200" dirty="0"/>
          </a:p>
        </p:txBody>
      </p:sp>
      <p:pic>
        <p:nvPicPr>
          <p:cNvPr id="12" name="Image 3" descr="preencoded.png"/>
          <p:cNvPicPr>
            <a:picLocks noChangeAspect="1"/>
          </p:cNvPicPr>
          <p:nvPr/>
        </p:nvPicPr>
        <p:blipFill>
          <a:blip r:embed="rId4"/>
          <a:stretch>
            <a:fillRect/>
          </a:stretch>
        </p:blipFill>
        <p:spPr>
          <a:xfrm>
            <a:off x="9464040" y="4434840"/>
            <a:ext cx="274320" cy="274320"/>
          </a:xfrm>
          <a:prstGeom prst="rect">
            <a:avLst/>
          </a:prstGeom>
        </p:spPr>
      </p:pic>
      <p:sp>
        <p:nvSpPr>
          <p:cNvPr id="13" name="Shape 6"/>
          <p:cNvSpPr/>
          <p:nvPr/>
        </p:nvSpPr>
        <p:spPr>
          <a:xfrm>
            <a:off x="7680960" y="4754880"/>
            <a:ext cx="3931920" cy="1280160"/>
          </a:xfrm>
          <a:prstGeom prst="roundRect">
            <a:avLst>
              <a:gd name="adj" fmla="val 8571"/>
            </a:avLst>
          </a:prstGeom>
          <a:solidFill>
            <a:srgbClr val="12213D"/>
          </a:solidFill>
          <a:ln w="12700">
            <a:solidFill>
              <a:srgbClr val="00E5FF"/>
            </a:solidFill>
            <a:prstDash val="solid"/>
          </a:ln>
        </p:spPr>
      </p:sp>
      <p:pic>
        <p:nvPicPr>
          <p:cNvPr id="14" name="Image 4" descr="preencoded.png"/>
          <p:cNvPicPr>
            <a:picLocks noChangeAspect="1"/>
          </p:cNvPicPr>
          <p:nvPr/>
        </p:nvPicPr>
        <p:blipFill>
          <a:blip r:embed="rId6"/>
          <a:stretch>
            <a:fillRect/>
          </a:stretch>
        </p:blipFill>
        <p:spPr>
          <a:xfrm>
            <a:off x="7955280" y="5074920"/>
            <a:ext cx="640080" cy="640080"/>
          </a:xfrm>
          <a:prstGeom prst="rect">
            <a:avLst/>
          </a:prstGeom>
        </p:spPr>
      </p:pic>
      <p:sp>
        <p:nvSpPr>
          <p:cNvPr id="15" name="Text 7"/>
          <p:cNvSpPr txBox="1"/>
          <p:nvPr/>
        </p:nvSpPr>
        <p:spPr>
          <a:xfrm>
            <a:off x="8778240" y="4754880"/>
            <a:ext cx="2743200" cy="1280160"/>
          </a:xfrm>
          <a:prstGeom prst="rect">
            <a:avLst/>
          </a:prstGeom>
          <a:noFill/>
          <a:ln/>
        </p:spPr>
        <p:txBody>
          <a:bodyPr wrap="square" lIns="0" tIns="0" rIns="0" bIns="0" rtlCol="0" anchor="ctr"/>
          <a:lstStyle/>
          <a:p>
            <a:pPr marL="0" indent="0">
              <a:buNone/>
            </a:pPr>
            <a:r>
              <a:rPr lang="en-US" sz="2200" b="1" dirty="0">
                <a:solidFill>
                  <a:srgbClr val="FFFFFF"/>
                </a:solidFill>
              </a:rPr>
              <a:t>Security Report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Problem Statement</a:t>
            </a:r>
            <a:endParaRPr lang="en-US" sz="3600" dirty="0"/>
          </a:p>
        </p:txBody>
      </p:sp>
      <p:sp>
        <p:nvSpPr>
          <p:cNvPr id="4" name="Shape 1"/>
          <p:cNvSpPr/>
          <p:nvPr/>
        </p:nvSpPr>
        <p:spPr>
          <a:xfrm>
            <a:off x="548640" y="1463040"/>
            <a:ext cx="5394960" cy="2103120"/>
          </a:xfrm>
          <a:prstGeom prst="roundRect">
            <a:avLst>
              <a:gd name="adj" fmla="val 5217"/>
            </a:avLst>
          </a:prstGeom>
          <a:solidFill>
            <a:srgbClr val="12213D"/>
          </a:solidFill>
          <a:ln w="12700">
            <a:solidFill>
              <a:srgbClr val="1B3A66"/>
            </a:solidFill>
            <a:prstDash val="solid"/>
          </a:ln>
        </p:spPr>
      </p:sp>
      <p:sp>
        <p:nvSpPr>
          <p:cNvPr id="5" name="Shape 2"/>
          <p:cNvSpPr/>
          <p:nvPr/>
        </p:nvSpPr>
        <p:spPr>
          <a:xfrm>
            <a:off x="777240" y="1691640"/>
            <a:ext cx="640080" cy="640080"/>
          </a:xfrm>
          <a:prstGeom prst="ellipse">
            <a:avLst/>
          </a:prstGeom>
          <a:solidFill>
            <a:srgbClr val="1B3A66"/>
          </a:solidFill>
          <a:ln w="12700">
            <a:solidFill>
              <a:srgbClr val="00E5FF"/>
            </a:solidFill>
            <a:prstDash val="solid"/>
          </a:ln>
        </p:spPr>
      </p:sp>
      <p:pic>
        <p:nvPicPr>
          <p:cNvPr id="6" name="Image 0" descr="preencoded.png"/>
          <p:cNvPicPr>
            <a:picLocks noChangeAspect="1"/>
          </p:cNvPicPr>
          <p:nvPr/>
        </p:nvPicPr>
        <p:blipFill>
          <a:blip r:embed="rId3"/>
          <a:stretch>
            <a:fillRect/>
          </a:stretch>
        </p:blipFill>
        <p:spPr>
          <a:xfrm>
            <a:off x="941832" y="1856232"/>
            <a:ext cx="310896" cy="310896"/>
          </a:xfrm>
          <a:prstGeom prst="rect">
            <a:avLst/>
          </a:prstGeom>
        </p:spPr>
      </p:pic>
      <p:sp>
        <p:nvSpPr>
          <p:cNvPr id="7" name="Text 3"/>
          <p:cNvSpPr txBox="1"/>
          <p:nvPr/>
        </p:nvSpPr>
        <p:spPr>
          <a:xfrm>
            <a:off x="1554480" y="164592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Manual review is slow</a:t>
            </a:r>
            <a:endParaRPr lang="en-US" sz="1800" dirty="0"/>
          </a:p>
        </p:txBody>
      </p:sp>
      <p:sp>
        <p:nvSpPr>
          <p:cNvPr id="8" name="Text 4"/>
          <p:cNvSpPr txBox="1"/>
          <p:nvPr/>
        </p:nvSpPr>
        <p:spPr>
          <a:xfrm>
            <a:off x="1554480" y="2057400"/>
            <a:ext cx="4206240" cy="1371600"/>
          </a:xfrm>
          <a:prstGeom prst="rect">
            <a:avLst/>
          </a:prstGeom>
          <a:noFill/>
          <a:ln/>
        </p:spPr>
        <p:txBody>
          <a:bodyPr wrap="square" lIns="0" tIns="0" rIns="0" bIns="0" rtlCol="0" anchor="t"/>
          <a:lstStyle/>
          <a:p>
            <a:pPr marL="0" indent="0">
              <a:buNone/>
            </a:pPr>
            <a:r>
              <a:rPr lang="en-US" sz="1400" dirty="0">
                <a:solidFill>
                  <a:srgbClr val="A9B8D4"/>
                </a:solidFill>
              </a:rPr>
              <a:t>Reading large codebases line by line takes time and expertise.</a:t>
            </a:r>
            <a:endParaRPr lang="en-US" sz="1400" dirty="0"/>
          </a:p>
        </p:txBody>
      </p:sp>
      <p:sp>
        <p:nvSpPr>
          <p:cNvPr id="9" name="Shape 5"/>
          <p:cNvSpPr/>
          <p:nvPr/>
        </p:nvSpPr>
        <p:spPr>
          <a:xfrm>
            <a:off x="6217920" y="1463040"/>
            <a:ext cx="5394960" cy="2103120"/>
          </a:xfrm>
          <a:prstGeom prst="roundRect">
            <a:avLst>
              <a:gd name="adj" fmla="val 5217"/>
            </a:avLst>
          </a:prstGeom>
          <a:solidFill>
            <a:srgbClr val="12213D"/>
          </a:solidFill>
          <a:ln w="12700">
            <a:solidFill>
              <a:srgbClr val="1B3A66"/>
            </a:solidFill>
            <a:prstDash val="solid"/>
          </a:ln>
        </p:spPr>
      </p:sp>
      <p:sp>
        <p:nvSpPr>
          <p:cNvPr id="10" name="Shape 6"/>
          <p:cNvSpPr/>
          <p:nvPr/>
        </p:nvSpPr>
        <p:spPr>
          <a:xfrm>
            <a:off x="6446520" y="1691640"/>
            <a:ext cx="640080" cy="640080"/>
          </a:xfrm>
          <a:prstGeom prst="ellipse">
            <a:avLst/>
          </a:prstGeom>
          <a:solidFill>
            <a:srgbClr val="1B3A66"/>
          </a:solidFill>
          <a:ln w="12700">
            <a:solidFill>
              <a:srgbClr val="00E5FF"/>
            </a:solidFill>
            <a:prstDash val="solid"/>
          </a:ln>
        </p:spPr>
      </p:sp>
      <p:pic>
        <p:nvPicPr>
          <p:cNvPr id="11" name="Image 1" descr="preencoded.png"/>
          <p:cNvPicPr>
            <a:picLocks noChangeAspect="1"/>
          </p:cNvPicPr>
          <p:nvPr/>
        </p:nvPicPr>
        <p:blipFill>
          <a:blip r:embed="rId4"/>
          <a:stretch>
            <a:fillRect/>
          </a:stretch>
        </p:blipFill>
        <p:spPr>
          <a:xfrm>
            <a:off x="6611112" y="1856232"/>
            <a:ext cx="310896" cy="310896"/>
          </a:xfrm>
          <a:prstGeom prst="rect">
            <a:avLst/>
          </a:prstGeom>
        </p:spPr>
      </p:pic>
      <p:sp>
        <p:nvSpPr>
          <p:cNvPr id="12" name="Text 7"/>
          <p:cNvSpPr txBox="1"/>
          <p:nvPr/>
        </p:nvSpPr>
        <p:spPr>
          <a:xfrm>
            <a:off x="7223760" y="164592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Human error</a:t>
            </a:r>
            <a:endParaRPr lang="en-US" sz="1800" dirty="0"/>
          </a:p>
        </p:txBody>
      </p:sp>
      <p:sp>
        <p:nvSpPr>
          <p:cNvPr id="13" name="Text 8"/>
          <p:cNvSpPr txBox="1"/>
          <p:nvPr/>
        </p:nvSpPr>
        <p:spPr>
          <a:xfrm>
            <a:off x="7223760" y="2057400"/>
            <a:ext cx="4206240" cy="1371600"/>
          </a:xfrm>
          <a:prstGeom prst="rect">
            <a:avLst/>
          </a:prstGeom>
          <a:noFill/>
          <a:ln/>
        </p:spPr>
        <p:txBody>
          <a:bodyPr wrap="square" lIns="0" tIns="0" rIns="0" bIns="0" rtlCol="0" anchor="t"/>
          <a:lstStyle/>
          <a:p>
            <a:pPr marL="0" indent="0">
              <a:buNone/>
            </a:pPr>
            <a:r>
              <a:rPr lang="en-US" sz="1400" dirty="0">
                <a:solidFill>
                  <a:srgbClr val="A9B8D4"/>
                </a:solidFill>
              </a:rPr>
              <a:t>Subtle flaws are easy to miss, especially under deadlines.</a:t>
            </a:r>
            <a:endParaRPr lang="en-US" sz="1400" dirty="0"/>
          </a:p>
        </p:txBody>
      </p:sp>
      <p:sp>
        <p:nvSpPr>
          <p:cNvPr id="14" name="Shape 9"/>
          <p:cNvSpPr/>
          <p:nvPr/>
        </p:nvSpPr>
        <p:spPr>
          <a:xfrm>
            <a:off x="548640" y="3840480"/>
            <a:ext cx="5394960" cy="2103120"/>
          </a:xfrm>
          <a:prstGeom prst="roundRect">
            <a:avLst>
              <a:gd name="adj" fmla="val 5217"/>
            </a:avLst>
          </a:prstGeom>
          <a:solidFill>
            <a:srgbClr val="12213D"/>
          </a:solidFill>
          <a:ln w="12700">
            <a:solidFill>
              <a:srgbClr val="1B3A66"/>
            </a:solidFill>
            <a:prstDash val="solid"/>
          </a:ln>
        </p:spPr>
      </p:sp>
      <p:sp>
        <p:nvSpPr>
          <p:cNvPr id="15" name="Shape 10"/>
          <p:cNvSpPr/>
          <p:nvPr/>
        </p:nvSpPr>
        <p:spPr>
          <a:xfrm>
            <a:off x="777240" y="4069080"/>
            <a:ext cx="640080" cy="640080"/>
          </a:xfrm>
          <a:prstGeom prst="ellipse">
            <a:avLst/>
          </a:prstGeom>
          <a:solidFill>
            <a:srgbClr val="1B3A66"/>
          </a:solidFill>
          <a:ln w="12700">
            <a:solidFill>
              <a:srgbClr val="00E5FF"/>
            </a:solidFill>
            <a:prstDash val="solid"/>
          </a:ln>
        </p:spPr>
      </p:sp>
      <p:pic>
        <p:nvPicPr>
          <p:cNvPr id="16" name="Image 2" descr="preencoded.png"/>
          <p:cNvPicPr>
            <a:picLocks noChangeAspect="1"/>
          </p:cNvPicPr>
          <p:nvPr/>
        </p:nvPicPr>
        <p:blipFill>
          <a:blip r:embed="rId5"/>
          <a:stretch>
            <a:fillRect/>
          </a:stretch>
        </p:blipFill>
        <p:spPr>
          <a:xfrm>
            <a:off x="941832" y="4233672"/>
            <a:ext cx="310896" cy="310896"/>
          </a:xfrm>
          <a:prstGeom prst="rect">
            <a:avLst/>
          </a:prstGeom>
        </p:spPr>
      </p:pic>
      <p:sp>
        <p:nvSpPr>
          <p:cNvPr id="17" name="Text 11"/>
          <p:cNvSpPr txBox="1"/>
          <p:nvPr/>
        </p:nvSpPr>
        <p:spPr>
          <a:xfrm>
            <a:off x="1554480" y="402336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Noisy tool alerts</a:t>
            </a:r>
            <a:endParaRPr lang="en-US" sz="1800" dirty="0"/>
          </a:p>
        </p:txBody>
      </p:sp>
      <p:sp>
        <p:nvSpPr>
          <p:cNvPr id="18" name="Text 12"/>
          <p:cNvSpPr txBox="1"/>
          <p:nvPr/>
        </p:nvSpPr>
        <p:spPr>
          <a:xfrm>
            <a:off x="1554480" y="4434840"/>
            <a:ext cx="4206240" cy="1371600"/>
          </a:xfrm>
          <a:prstGeom prst="rect">
            <a:avLst/>
          </a:prstGeom>
          <a:noFill/>
          <a:ln/>
        </p:spPr>
        <p:txBody>
          <a:bodyPr wrap="square" lIns="0" tIns="0" rIns="0" bIns="0" rtlCol="0" anchor="t"/>
          <a:lstStyle/>
          <a:p>
            <a:pPr marL="0" indent="0">
              <a:buNone/>
            </a:pPr>
            <a:r>
              <a:rPr lang="en-US" sz="1400" dirty="0">
                <a:solidFill>
                  <a:srgbClr val="A9B8D4"/>
                </a:solidFill>
              </a:rPr>
              <a:t>Rule-based scanners can raise false alarms or miss new patterns.</a:t>
            </a:r>
            <a:endParaRPr lang="en-US" sz="1400" dirty="0"/>
          </a:p>
        </p:txBody>
      </p:sp>
      <p:sp>
        <p:nvSpPr>
          <p:cNvPr id="19" name="Shape 13"/>
          <p:cNvSpPr/>
          <p:nvPr/>
        </p:nvSpPr>
        <p:spPr>
          <a:xfrm>
            <a:off x="6217920" y="3840480"/>
            <a:ext cx="5394960" cy="2103120"/>
          </a:xfrm>
          <a:prstGeom prst="roundRect">
            <a:avLst>
              <a:gd name="adj" fmla="val 5217"/>
            </a:avLst>
          </a:prstGeom>
          <a:solidFill>
            <a:srgbClr val="12213D"/>
          </a:solidFill>
          <a:ln w="12700">
            <a:solidFill>
              <a:srgbClr val="1B3A66"/>
            </a:solidFill>
            <a:prstDash val="solid"/>
          </a:ln>
        </p:spPr>
      </p:sp>
      <p:sp>
        <p:nvSpPr>
          <p:cNvPr id="20" name="Shape 14"/>
          <p:cNvSpPr/>
          <p:nvPr/>
        </p:nvSpPr>
        <p:spPr>
          <a:xfrm>
            <a:off x="6446520" y="4069080"/>
            <a:ext cx="640080" cy="640080"/>
          </a:xfrm>
          <a:prstGeom prst="ellipse">
            <a:avLst/>
          </a:prstGeom>
          <a:solidFill>
            <a:srgbClr val="1B3A66"/>
          </a:solidFill>
          <a:ln w="12700">
            <a:solidFill>
              <a:srgbClr val="00E5FF"/>
            </a:solidFill>
            <a:prstDash val="solid"/>
          </a:ln>
        </p:spPr>
      </p:sp>
      <p:pic>
        <p:nvPicPr>
          <p:cNvPr id="21" name="Image 3" descr="preencoded.png"/>
          <p:cNvPicPr>
            <a:picLocks noChangeAspect="1"/>
          </p:cNvPicPr>
          <p:nvPr/>
        </p:nvPicPr>
        <p:blipFill>
          <a:blip r:embed="rId6"/>
          <a:stretch>
            <a:fillRect/>
          </a:stretch>
        </p:blipFill>
        <p:spPr>
          <a:xfrm>
            <a:off x="6611112" y="4233672"/>
            <a:ext cx="310896" cy="310896"/>
          </a:xfrm>
          <a:prstGeom prst="rect">
            <a:avLst/>
          </a:prstGeom>
        </p:spPr>
      </p:pic>
      <p:sp>
        <p:nvSpPr>
          <p:cNvPr id="22" name="Text 15"/>
          <p:cNvSpPr txBox="1"/>
          <p:nvPr/>
        </p:nvSpPr>
        <p:spPr>
          <a:xfrm>
            <a:off x="7223760" y="402336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Hard-to-understand output</a:t>
            </a:r>
            <a:endParaRPr lang="en-US" sz="1800" dirty="0"/>
          </a:p>
        </p:txBody>
      </p:sp>
      <p:sp>
        <p:nvSpPr>
          <p:cNvPr id="23" name="Text 16"/>
          <p:cNvSpPr txBox="1"/>
          <p:nvPr/>
        </p:nvSpPr>
        <p:spPr>
          <a:xfrm>
            <a:off x="7223760" y="4434840"/>
            <a:ext cx="4206240" cy="1371600"/>
          </a:xfrm>
          <a:prstGeom prst="rect">
            <a:avLst/>
          </a:prstGeom>
          <a:noFill/>
          <a:ln/>
        </p:spPr>
        <p:txBody>
          <a:bodyPr wrap="square" lIns="0" tIns="0" rIns="0" bIns="0" rtlCol="0" anchor="t"/>
          <a:lstStyle/>
          <a:p>
            <a:pPr marL="0" indent="0">
              <a:buNone/>
            </a:pPr>
            <a:r>
              <a:rPr lang="en-US" sz="1400" dirty="0">
                <a:solidFill>
                  <a:srgbClr val="A9B8D4"/>
                </a:solidFill>
              </a:rPr>
              <a:t>Reports use jargon and rarely explain how to fix the issue.</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Objectives</a:t>
            </a:r>
            <a:endParaRPr lang="en-US" sz="3600" dirty="0"/>
          </a:p>
        </p:txBody>
      </p:sp>
      <p:sp>
        <p:nvSpPr>
          <p:cNvPr id="4" name="Shape 1"/>
          <p:cNvSpPr/>
          <p:nvPr/>
        </p:nvSpPr>
        <p:spPr>
          <a:xfrm>
            <a:off x="548640" y="1371600"/>
            <a:ext cx="11064240" cy="804672"/>
          </a:xfrm>
          <a:prstGeom prst="roundRect">
            <a:avLst>
              <a:gd name="adj" fmla="val 11364"/>
            </a:avLst>
          </a:prstGeom>
          <a:solidFill>
            <a:srgbClr val="12213D"/>
          </a:solidFill>
          <a:ln w="12700">
            <a:solidFill>
              <a:srgbClr val="1B3A66"/>
            </a:solidFill>
            <a:prstDash val="solid"/>
          </a:ln>
        </p:spPr>
      </p:sp>
      <p:sp>
        <p:nvSpPr>
          <p:cNvPr id="5" name="Shape 2"/>
          <p:cNvSpPr/>
          <p:nvPr/>
        </p:nvSpPr>
        <p:spPr>
          <a:xfrm>
            <a:off x="731520" y="1499616"/>
            <a:ext cx="548640" cy="548640"/>
          </a:xfrm>
          <a:prstGeom prst="ellipse">
            <a:avLst/>
          </a:prstGeom>
          <a:solidFill>
            <a:srgbClr val="1B3A66"/>
          </a:solidFill>
          <a:ln w="12700">
            <a:solidFill>
              <a:srgbClr val="00E5FF"/>
            </a:solidFill>
            <a:prstDash val="solid"/>
          </a:ln>
        </p:spPr>
      </p:sp>
      <p:sp>
        <p:nvSpPr>
          <p:cNvPr id="6" name="Text 3"/>
          <p:cNvSpPr txBox="1"/>
          <p:nvPr/>
        </p:nvSpPr>
        <p:spPr>
          <a:xfrm>
            <a:off x="731520" y="1499616"/>
            <a:ext cx="548640" cy="548640"/>
          </a:xfrm>
          <a:prstGeom prst="rect">
            <a:avLst/>
          </a:prstGeom>
          <a:noFill/>
          <a:ln/>
        </p:spPr>
        <p:txBody>
          <a:bodyPr wrap="square" lIns="0" tIns="0" rIns="0" bIns="0" rtlCol="0" anchor="ctr"/>
          <a:lstStyle/>
          <a:p>
            <a:pPr marL="0" indent="0" algn="ctr">
              <a:buNone/>
            </a:pPr>
            <a:r>
              <a:rPr lang="en-US" sz="2000" b="1" dirty="0">
                <a:solidFill>
                  <a:srgbClr val="00E5FF"/>
                </a:solidFill>
              </a:rPr>
              <a:t>1</a:t>
            </a:r>
            <a:endParaRPr lang="en-US" sz="2000" dirty="0"/>
          </a:p>
        </p:txBody>
      </p:sp>
      <p:sp>
        <p:nvSpPr>
          <p:cNvPr id="7" name="Text 4"/>
          <p:cNvSpPr txBox="1"/>
          <p:nvPr/>
        </p:nvSpPr>
        <p:spPr>
          <a:xfrm>
            <a:off x="1554480" y="1371600"/>
            <a:ext cx="8778240" cy="804672"/>
          </a:xfrm>
          <a:prstGeom prst="rect">
            <a:avLst/>
          </a:prstGeom>
          <a:noFill/>
          <a:ln/>
        </p:spPr>
        <p:txBody>
          <a:bodyPr wrap="square" lIns="0" tIns="0" rIns="0" bIns="0" rtlCol="0" anchor="ctr"/>
          <a:lstStyle/>
          <a:p>
            <a:pPr marL="0" indent="0">
              <a:buNone/>
            </a:pPr>
            <a:r>
              <a:rPr lang="en-US" sz="2000" dirty="0">
                <a:solidFill>
                  <a:srgbClr val="FFFFFF"/>
                </a:solidFill>
              </a:rPr>
              <a:t>Detect potentially vulnerable code in repositories and source files</a:t>
            </a:r>
            <a:endParaRPr lang="en-US" sz="2000" dirty="0"/>
          </a:p>
        </p:txBody>
      </p:sp>
      <p:pic>
        <p:nvPicPr>
          <p:cNvPr id="8" name="Image 0" descr="preencoded.png"/>
          <p:cNvPicPr>
            <a:picLocks noChangeAspect="1"/>
          </p:cNvPicPr>
          <p:nvPr/>
        </p:nvPicPr>
        <p:blipFill>
          <a:blip r:embed="rId3"/>
          <a:stretch>
            <a:fillRect/>
          </a:stretch>
        </p:blipFill>
        <p:spPr>
          <a:xfrm>
            <a:off x="10789920" y="1572768"/>
            <a:ext cx="402336" cy="402336"/>
          </a:xfrm>
          <a:prstGeom prst="rect">
            <a:avLst/>
          </a:prstGeom>
        </p:spPr>
      </p:pic>
      <p:sp>
        <p:nvSpPr>
          <p:cNvPr id="9" name="Shape 5"/>
          <p:cNvSpPr/>
          <p:nvPr/>
        </p:nvSpPr>
        <p:spPr>
          <a:xfrm>
            <a:off x="548640" y="2313432"/>
            <a:ext cx="11064240" cy="804672"/>
          </a:xfrm>
          <a:prstGeom prst="roundRect">
            <a:avLst>
              <a:gd name="adj" fmla="val 11364"/>
            </a:avLst>
          </a:prstGeom>
          <a:solidFill>
            <a:srgbClr val="12213D"/>
          </a:solidFill>
          <a:ln w="12700">
            <a:solidFill>
              <a:srgbClr val="1B3A66"/>
            </a:solidFill>
            <a:prstDash val="solid"/>
          </a:ln>
        </p:spPr>
      </p:sp>
      <p:sp>
        <p:nvSpPr>
          <p:cNvPr id="10" name="Shape 6"/>
          <p:cNvSpPr/>
          <p:nvPr/>
        </p:nvSpPr>
        <p:spPr>
          <a:xfrm>
            <a:off x="731520" y="2441448"/>
            <a:ext cx="548640" cy="548640"/>
          </a:xfrm>
          <a:prstGeom prst="ellipse">
            <a:avLst/>
          </a:prstGeom>
          <a:solidFill>
            <a:srgbClr val="1B3A66"/>
          </a:solidFill>
          <a:ln w="12700">
            <a:solidFill>
              <a:srgbClr val="00E5FF"/>
            </a:solidFill>
            <a:prstDash val="solid"/>
          </a:ln>
        </p:spPr>
      </p:sp>
      <p:sp>
        <p:nvSpPr>
          <p:cNvPr id="11" name="Text 7"/>
          <p:cNvSpPr txBox="1"/>
          <p:nvPr/>
        </p:nvSpPr>
        <p:spPr>
          <a:xfrm>
            <a:off x="731520" y="2441448"/>
            <a:ext cx="548640" cy="548640"/>
          </a:xfrm>
          <a:prstGeom prst="rect">
            <a:avLst/>
          </a:prstGeom>
          <a:noFill/>
          <a:ln/>
        </p:spPr>
        <p:txBody>
          <a:bodyPr wrap="square" lIns="0" tIns="0" rIns="0" bIns="0" rtlCol="0" anchor="ctr"/>
          <a:lstStyle/>
          <a:p>
            <a:pPr marL="0" indent="0" algn="ctr">
              <a:buNone/>
            </a:pPr>
            <a:r>
              <a:rPr lang="en-US" sz="2000" b="1" dirty="0">
                <a:solidFill>
                  <a:srgbClr val="00E5FF"/>
                </a:solidFill>
              </a:rPr>
              <a:t>2</a:t>
            </a:r>
            <a:endParaRPr lang="en-US" sz="2000" dirty="0"/>
          </a:p>
        </p:txBody>
      </p:sp>
      <p:sp>
        <p:nvSpPr>
          <p:cNvPr id="12" name="Text 8"/>
          <p:cNvSpPr txBox="1"/>
          <p:nvPr/>
        </p:nvSpPr>
        <p:spPr>
          <a:xfrm>
            <a:off x="1554480" y="2313432"/>
            <a:ext cx="8778240" cy="804672"/>
          </a:xfrm>
          <a:prstGeom prst="rect">
            <a:avLst/>
          </a:prstGeom>
          <a:noFill/>
          <a:ln/>
        </p:spPr>
        <p:txBody>
          <a:bodyPr wrap="square" lIns="0" tIns="0" rIns="0" bIns="0" rtlCol="0" anchor="ctr"/>
          <a:lstStyle/>
          <a:p>
            <a:pPr marL="0" indent="0">
              <a:buNone/>
            </a:pPr>
            <a:r>
              <a:rPr lang="en-US" sz="2000" dirty="0">
                <a:solidFill>
                  <a:srgbClr val="FFFFFF"/>
                </a:solidFill>
              </a:rPr>
              <a:t>Understand code structure using Tree-sitter parsing</a:t>
            </a:r>
            <a:endParaRPr lang="en-US" sz="2000" dirty="0"/>
          </a:p>
        </p:txBody>
      </p:sp>
      <p:pic>
        <p:nvPicPr>
          <p:cNvPr id="13" name="Image 1" descr="preencoded.png"/>
          <p:cNvPicPr>
            <a:picLocks noChangeAspect="1"/>
          </p:cNvPicPr>
          <p:nvPr/>
        </p:nvPicPr>
        <p:blipFill>
          <a:blip r:embed="rId4"/>
          <a:stretch>
            <a:fillRect/>
          </a:stretch>
        </p:blipFill>
        <p:spPr>
          <a:xfrm>
            <a:off x="10789920" y="2514600"/>
            <a:ext cx="402336" cy="402336"/>
          </a:xfrm>
          <a:prstGeom prst="rect">
            <a:avLst/>
          </a:prstGeom>
        </p:spPr>
      </p:pic>
      <p:sp>
        <p:nvSpPr>
          <p:cNvPr id="14" name="Shape 9"/>
          <p:cNvSpPr/>
          <p:nvPr/>
        </p:nvSpPr>
        <p:spPr>
          <a:xfrm>
            <a:off x="548640" y="3255264"/>
            <a:ext cx="11064240" cy="804672"/>
          </a:xfrm>
          <a:prstGeom prst="roundRect">
            <a:avLst>
              <a:gd name="adj" fmla="val 11364"/>
            </a:avLst>
          </a:prstGeom>
          <a:solidFill>
            <a:srgbClr val="12213D"/>
          </a:solidFill>
          <a:ln w="12700">
            <a:solidFill>
              <a:srgbClr val="1B3A66"/>
            </a:solidFill>
            <a:prstDash val="solid"/>
          </a:ln>
        </p:spPr>
      </p:sp>
      <p:sp>
        <p:nvSpPr>
          <p:cNvPr id="15" name="Shape 10"/>
          <p:cNvSpPr/>
          <p:nvPr/>
        </p:nvSpPr>
        <p:spPr>
          <a:xfrm>
            <a:off x="731520" y="3383280"/>
            <a:ext cx="548640" cy="548640"/>
          </a:xfrm>
          <a:prstGeom prst="ellipse">
            <a:avLst/>
          </a:prstGeom>
          <a:solidFill>
            <a:srgbClr val="1B3A66"/>
          </a:solidFill>
          <a:ln w="12700">
            <a:solidFill>
              <a:srgbClr val="00E5FF"/>
            </a:solidFill>
            <a:prstDash val="solid"/>
          </a:ln>
        </p:spPr>
      </p:sp>
      <p:sp>
        <p:nvSpPr>
          <p:cNvPr id="16" name="Text 11"/>
          <p:cNvSpPr txBox="1"/>
          <p:nvPr/>
        </p:nvSpPr>
        <p:spPr>
          <a:xfrm>
            <a:off x="731520" y="3383280"/>
            <a:ext cx="548640" cy="548640"/>
          </a:xfrm>
          <a:prstGeom prst="rect">
            <a:avLst/>
          </a:prstGeom>
          <a:noFill/>
          <a:ln/>
        </p:spPr>
        <p:txBody>
          <a:bodyPr wrap="square" lIns="0" tIns="0" rIns="0" bIns="0" rtlCol="0" anchor="ctr"/>
          <a:lstStyle/>
          <a:p>
            <a:pPr marL="0" indent="0" algn="ctr">
              <a:buNone/>
            </a:pPr>
            <a:r>
              <a:rPr lang="en-US" sz="2000" b="1" dirty="0">
                <a:solidFill>
                  <a:srgbClr val="00E5FF"/>
                </a:solidFill>
              </a:rPr>
              <a:t>3</a:t>
            </a:r>
            <a:endParaRPr lang="en-US" sz="2000" dirty="0"/>
          </a:p>
        </p:txBody>
      </p:sp>
      <p:sp>
        <p:nvSpPr>
          <p:cNvPr id="17" name="Text 12"/>
          <p:cNvSpPr txBox="1"/>
          <p:nvPr/>
        </p:nvSpPr>
        <p:spPr>
          <a:xfrm>
            <a:off x="1554480" y="3255264"/>
            <a:ext cx="8778240" cy="804672"/>
          </a:xfrm>
          <a:prstGeom prst="rect">
            <a:avLst/>
          </a:prstGeom>
          <a:noFill/>
          <a:ln/>
        </p:spPr>
        <p:txBody>
          <a:bodyPr wrap="square" lIns="0" tIns="0" rIns="0" bIns="0" rtlCol="0" anchor="ctr"/>
          <a:lstStyle/>
          <a:p>
            <a:pPr marL="0" indent="0">
              <a:buNone/>
            </a:pPr>
            <a:r>
              <a:rPr lang="en-US" sz="2000" dirty="0">
                <a:solidFill>
                  <a:srgbClr val="FFFFFF"/>
                </a:solidFill>
              </a:rPr>
              <a:t>Explain security risks in clear, simple language</a:t>
            </a:r>
            <a:endParaRPr lang="en-US" sz="2000" dirty="0"/>
          </a:p>
        </p:txBody>
      </p:sp>
      <p:pic>
        <p:nvPicPr>
          <p:cNvPr id="18" name="Image 2" descr="preencoded.png"/>
          <p:cNvPicPr>
            <a:picLocks noChangeAspect="1"/>
          </p:cNvPicPr>
          <p:nvPr/>
        </p:nvPicPr>
        <p:blipFill>
          <a:blip r:embed="rId5"/>
          <a:stretch>
            <a:fillRect/>
          </a:stretch>
        </p:blipFill>
        <p:spPr>
          <a:xfrm>
            <a:off x="10789920" y="3456432"/>
            <a:ext cx="402336" cy="402336"/>
          </a:xfrm>
          <a:prstGeom prst="rect">
            <a:avLst/>
          </a:prstGeom>
        </p:spPr>
      </p:pic>
      <p:sp>
        <p:nvSpPr>
          <p:cNvPr id="19" name="Shape 13"/>
          <p:cNvSpPr/>
          <p:nvPr/>
        </p:nvSpPr>
        <p:spPr>
          <a:xfrm>
            <a:off x="548640" y="4197096"/>
            <a:ext cx="11064240" cy="804672"/>
          </a:xfrm>
          <a:prstGeom prst="roundRect">
            <a:avLst>
              <a:gd name="adj" fmla="val 11364"/>
            </a:avLst>
          </a:prstGeom>
          <a:solidFill>
            <a:srgbClr val="12213D"/>
          </a:solidFill>
          <a:ln w="12700">
            <a:solidFill>
              <a:srgbClr val="1B3A66"/>
            </a:solidFill>
            <a:prstDash val="solid"/>
          </a:ln>
        </p:spPr>
      </p:sp>
      <p:sp>
        <p:nvSpPr>
          <p:cNvPr id="20" name="Shape 14"/>
          <p:cNvSpPr/>
          <p:nvPr/>
        </p:nvSpPr>
        <p:spPr>
          <a:xfrm>
            <a:off x="731520" y="4325112"/>
            <a:ext cx="548640" cy="548640"/>
          </a:xfrm>
          <a:prstGeom prst="ellipse">
            <a:avLst/>
          </a:prstGeom>
          <a:solidFill>
            <a:srgbClr val="1B3A66"/>
          </a:solidFill>
          <a:ln w="12700">
            <a:solidFill>
              <a:srgbClr val="00E5FF"/>
            </a:solidFill>
            <a:prstDash val="solid"/>
          </a:ln>
        </p:spPr>
      </p:sp>
      <p:sp>
        <p:nvSpPr>
          <p:cNvPr id="21" name="Text 15"/>
          <p:cNvSpPr txBox="1"/>
          <p:nvPr/>
        </p:nvSpPr>
        <p:spPr>
          <a:xfrm>
            <a:off x="731520" y="4325112"/>
            <a:ext cx="548640" cy="548640"/>
          </a:xfrm>
          <a:prstGeom prst="rect">
            <a:avLst/>
          </a:prstGeom>
          <a:noFill/>
          <a:ln/>
        </p:spPr>
        <p:txBody>
          <a:bodyPr wrap="square" lIns="0" tIns="0" rIns="0" bIns="0" rtlCol="0" anchor="ctr"/>
          <a:lstStyle/>
          <a:p>
            <a:pPr marL="0" indent="0" algn="ctr">
              <a:buNone/>
            </a:pPr>
            <a:r>
              <a:rPr lang="en-US" sz="2000" b="1" dirty="0">
                <a:solidFill>
                  <a:srgbClr val="00E5FF"/>
                </a:solidFill>
              </a:rPr>
              <a:t>4</a:t>
            </a:r>
            <a:endParaRPr lang="en-US" sz="2000" dirty="0"/>
          </a:p>
        </p:txBody>
      </p:sp>
      <p:sp>
        <p:nvSpPr>
          <p:cNvPr id="22" name="Text 16"/>
          <p:cNvSpPr txBox="1"/>
          <p:nvPr/>
        </p:nvSpPr>
        <p:spPr>
          <a:xfrm>
            <a:off x="1554480" y="4197096"/>
            <a:ext cx="8778240" cy="804672"/>
          </a:xfrm>
          <a:prstGeom prst="rect">
            <a:avLst/>
          </a:prstGeom>
          <a:noFill/>
          <a:ln/>
        </p:spPr>
        <p:txBody>
          <a:bodyPr wrap="square" lIns="0" tIns="0" rIns="0" bIns="0" rtlCol="0" anchor="ctr"/>
          <a:lstStyle/>
          <a:p>
            <a:pPr marL="0" indent="0">
              <a:buNone/>
            </a:pPr>
            <a:r>
              <a:rPr lang="en-US" sz="2000" dirty="0">
                <a:solidFill>
                  <a:srgbClr val="FFFFFF"/>
                </a:solidFill>
              </a:rPr>
              <a:t>Suggest possible fixes mapped to OWASP and CWE</a:t>
            </a:r>
            <a:endParaRPr lang="en-US" sz="2000" dirty="0"/>
          </a:p>
        </p:txBody>
      </p:sp>
      <p:pic>
        <p:nvPicPr>
          <p:cNvPr id="23" name="Image 3" descr="preencoded.png"/>
          <p:cNvPicPr>
            <a:picLocks noChangeAspect="1"/>
          </p:cNvPicPr>
          <p:nvPr/>
        </p:nvPicPr>
        <p:blipFill>
          <a:blip r:embed="rId6"/>
          <a:stretch>
            <a:fillRect/>
          </a:stretch>
        </p:blipFill>
        <p:spPr>
          <a:xfrm>
            <a:off x="10789920" y="4398264"/>
            <a:ext cx="402336" cy="402336"/>
          </a:xfrm>
          <a:prstGeom prst="rect">
            <a:avLst/>
          </a:prstGeom>
        </p:spPr>
      </p:pic>
      <p:sp>
        <p:nvSpPr>
          <p:cNvPr id="24" name="Shape 17"/>
          <p:cNvSpPr/>
          <p:nvPr/>
        </p:nvSpPr>
        <p:spPr>
          <a:xfrm>
            <a:off x="548640" y="5138928"/>
            <a:ext cx="11064240" cy="804672"/>
          </a:xfrm>
          <a:prstGeom prst="roundRect">
            <a:avLst>
              <a:gd name="adj" fmla="val 11364"/>
            </a:avLst>
          </a:prstGeom>
          <a:solidFill>
            <a:srgbClr val="12213D"/>
          </a:solidFill>
          <a:ln w="12700">
            <a:solidFill>
              <a:srgbClr val="1B3A66"/>
            </a:solidFill>
            <a:prstDash val="solid"/>
          </a:ln>
        </p:spPr>
      </p:sp>
      <p:sp>
        <p:nvSpPr>
          <p:cNvPr id="25" name="Shape 18"/>
          <p:cNvSpPr/>
          <p:nvPr/>
        </p:nvSpPr>
        <p:spPr>
          <a:xfrm>
            <a:off x="731520" y="5266944"/>
            <a:ext cx="548640" cy="548640"/>
          </a:xfrm>
          <a:prstGeom prst="ellipse">
            <a:avLst/>
          </a:prstGeom>
          <a:solidFill>
            <a:srgbClr val="1B3A66"/>
          </a:solidFill>
          <a:ln w="12700">
            <a:solidFill>
              <a:srgbClr val="00E5FF"/>
            </a:solidFill>
            <a:prstDash val="solid"/>
          </a:ln>
        </p:spPr>
      </p:sp>
      <p:sp>
        <p:nvSpPr>
          <p:cNvPr id="26" name="Text 19"/>
          <p:cNvSpPr txBox="1"/>
          <p:nvPr/>
        </p:nvSpPr>
        <p:spPr>
          <a:xfrm>
            <a:off x="731520" y="5266944"/>
            <a:ext cx="548640" cy="548640"/>
          </a:xfrm>
          <a:prstGeom prst="rect">
            <a:avLst/>
          </a:prstGeom>
          <a:noFill/>
          <a:ln/>
        </p:spPr>
        <p:txBody>
          <a:bodyPr wrap="square" lIns="0" tIns="0" rIns="0" bIns="0" rtlCol="0" anchor="ctr"/>
          <a:lstStyle/>
          <a:p>
            <a:pPr marL="0" indent="0" algn="ctr">
              <a:buNone/>
            </a:pPr>
            <a:r>
              <a:rPr lang="en-US" sz="2000" b="1" dirty="0">
                <a:solidFill>
                  <a:srgbClr val="00E5FF"/>
                </a:solidFill>
              </a:rPr>
              <a:t>5</a:t>
            </a:r>
            <a:endParaRPr lang="en-US" sz="2000" dirty="0"/>
          </a:p>
        </p:txBody>
      </p:sp>
      <p:sp>
        <p:nvSpPr>
          <p:cNvPr id="27" name="Text 20"/>
          <p:cNvSpPr txBox="1"/>
          <p:nvPr/>
        </p:nvSpPr>
        <p:spPr>
          <a:xfrm>
            <a:off x="1554480" y="5138928"/>
            <a:ext cx="8778240" cy="804672"/>
          </a:xfrm>
          <a:prstGeom prst="rect">
            <a:avLst/>
          </a:prstGeom>
          <a:noFill/>
          <a:ln/>
        </p:spPr>
        <p:txBody>
          <a:bodyPr wrap="square" lIns="0" tIns="0" rIns="0" bIns="0" rtlCol="0" anchor="ctr"/>
          <a:lstStyle/>
          <a:p>
            <a:pPr marL="0" indent="0">
              <a:buNone/>
            </a:pPr>
            <a:r>
              <a:rPr lang="en-US" sz="2000" dirty="0">
                <a:solidFill>
                  <a:srgbClr val="FFFFFF"/>
                </a:solidFill>
              </a:rPr>
              <a:t>Provide an easy-to-use API and interface for reports</a:t>
            </a:r>
            <a:endParaRPr lang="en-US" sz="2000" dirty="0"/>
          </a:p>
        </p:txBody>
      </p:sp>
      <p:pic>
        <p:nvPicPr>
          <p:cNvPr id="28" name="Image 4" descr="preencoded.png"/>
          <p:cNvPicPr>
            <a:picLocks noChangeAspect="1"/>
          </p:cNvPicPr>
          <p:nvPr/>
        </p:nvPicPr>
        <p:blipFill>
          <a:blip r:embed="rId7"/>
          <a:stretch>
            <a:fillRect/>
          </a:stretch>
        </p:blipFill>
        <p:spPr>
          <a:xfrm>
            <a:off x="10789920" y="5340096"/>
            <a:ext cx="402336" cy="402336"/>
          </a:xfrm>
          <a:prstGeom prst="rect">
            <a:avLst/>
          </a:prstGeom>
        </p:spPr>
      </p:pic>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Existing System</a:t>
            </a:r>
            <a:endParaRPr lang="en-US" sz="3600" dirty="0"/>
          </a:p>
        </p:txBody>
      </p:sp>
      <p:sp>
        <p:nvSpPr>
          <p:cNvPr id="4" name="Shape 1"/>
          <p:cNvSpPr/>
          <p:nvPr/>
        </p:nvSpPr>
        <p:spPr>
          <a:xfrm>
            <a:off x="548640" y="1463040"/>
            <a:ext cx="3566160" cy="4480560"/>
          </a:xfrm>
          <a:prstGeom prst="roundRect">
            <a:avLst>
              <a:gd name="adj" fmla="val 3077"/>
            </a:avLst>
          </a:prstGeom>
          <a:solidFill>
            <a:srgbClr val="12213D"/>
          </a:solidFill>
          <a:ln w="12700">
            <a:solidFill>
              <a:srgbClr val="1B3A66"/>
            </a:solidFill>
            <a:prstDash val="solid"/>
          </a:ln>
        </p:spPr>
      </p:sp>
      <p:sp>
        <p:nvSpPr>
          <p:cNvPr id="5" name="Shape 2"/>
          <p:cNvSpPr/>
          <p:nvPr/>
        </p:nvSpPr>
        <p:spPr>
          <a:xfrm>
            <a:off x="822960" y="1737360"/>
            <a:ext cx="822960" cy="822960"/>
          </a:xfrm>
          <a:prstGeom prst="ellipse">
            <a:avLst/>
          </a:prstGeom>
          <a:solidFill>
            <a:srgbClr val="1B3A66"/>
          </a:solidFill>
          <a:ln w="12700">
            <a:solidFill>
              <a:srgbClr val="00E5FF"/>
            </a:solidFill>
            <a:prstDash val="solid"/>
          </a:ln>
        </p:spPr>
      </p:sp>
      <p:pic>
        <p:nvPicPr>
          <p:cNvPr id="6" name="Image 0" descr="preencoded.png"/>
          <p:cNvPicPr>
            <a:picLocks noChangeAspect="1"/>
          </p:cNvPicPr>
          <p:nvPr/>
        </p:nvPicPr>
        <p:blipFill>
          <a:blip r:embed="rId3"/>
          <a:stretch>
            <a:fillRect/>
          </a:stretch>
        </p:blipFill>
        <p:spPr>
          <a:xfrm>
            <a:off x="1005840" y="1920240"/>
            <a:ext cx="457200" cy="457200"/>
          </a:xfrm>
          <a:prstGeom prst="rect">
            <a:avLst/>
          </a:prstGeom>
        </p:spPr>
      </p:pic>
      <p:sp>
        <p:nvSpPr>
          <p:cNvPr id="7" name="Text 3"/>
          <p:cNvSpPr txBox="1"/>
          <p:nvPr/>
        </p:nvSpPr>
        <p:spPr>
          <a:xfrm>
            <a:off x="822960" y="2743200"/>
            <a:ext cx="3017520" cy="457200"/>
          </a:xfrm>
          <a:prstGeom prst="rect">
            <a:avLst/>
          </a:prstGeom>
          <a:noFill/>
          <a:ln/>
        </p:spPr>
        <p:txBody>
          <a:bodyPr wrap="square" lIns="0" tIns="0" rIns="0" bIns="0" rtlCol="0" anchor="ctr"/>
          <a:lstStyle/>
          <a:p>
            <a:pPr marL="0" indent="0">
              <a:buNone/>
            </a:pPr>
            <a:r>
              <a:rPr lang="en-US" sz="2000" b="1" dirty="0">
                <a:solidFill>
                  <a:srgbClr val="FFFFFF"/>
                </a:solidFill>
              </a:rPr>
              <a:t>Manual Code Review</a:t>
            </a:r>
            <a:endParaRPr lang="en-US" sz="2000" dirty="0"/>
          </a:p>
        </p:txBody>
      </p:sp>
      <p:sp>
        <p:nvSpPr>
          <p:cNvPr id="8" name="Text 4"/>
          <p:cNvSpPr txBox="1"/>
          <p:nvPr/>
        </p:nvSpPr>
        <p:spPr>
          <a:xfrm>
            <a:off x="822960" y="3291840"/>
            <a:ext cx="3017520" cy="2377440"/>
          </a:xfrm>
          <a:prstGeom prst="rect">
            <a:avLst/>
          </a:prstGeom>
          <a:noFill/>
          <a:ln/>
        </p:spPr>
        <p:txBody>
          <a:bodyPr wrap="square" lIns="0" tIns="0" rIns="0" bIns="0" rtlCol="0" anchor="t"/>
          <a:lstStyle/>
          <a:p>
            <a:pPr marL="0" indent="0">
              <a:buNone/>
            </a:pPr>
            <a:r>
              <a:rPr lang="en-US" sz="1500" b="1" dirty="0">
                <a:solidFill>
                  <a:srgbClr val="39FF9C"/>
                </a:solidFill>
              </a:rPr>
              <a:t>Strength</a:t>
            </a:r>
            <a:endParaRPr lang="en-US" sz="1500" dirty="0"/>
          </a:p>
          <a:p>
            <a:pPr marL="0" indent="0">
              <a:buNone/>
            </a:pPr>
            <a:r>
              <a:rPr lang="en-US" sz="1500" dirty="0">
                <a:solidFill>
                  <a:srgbClr val="A9B8D4"/>
                </a:solidFill>
              </a:rPr>
              <a:t>Expert-driven and thorough</a:t>
            </a:r>
            <a:endParaRPr lang="en-US" sz="1500" dirty="0"/>
          </a:p>
          <a:p>
            <a:pPr marL="0" indent="0">
              <a:buNone/>
            </a:pPr>
            <a:r>
              <a:rPr lang="en-US" sz="1500" dirty="0">
                <a:solidFill>
                  <a:srgbClr val="000000"/>
                </a:solidFill>
              </a:rPr>
              <a:t> </a:t>
            </a:r>
            <a:endParaRPr lang="en-US" sz="1500" dirty="0"/>
          </a:p>
          <a:p>
            <a:pPr marL="0" indent="0">
              <a:buNone/>
            </a:pPr>
            <a:r>
              <a:rPr lang="en-US" sz="1500" b="1" dirty="0">
                <a:solidFill>
                  <a:srgbClr val="FF4D6D"/>
                </a:solidFill>
              </a:rPr>
              <a:t>Limitation</a:t>
            </a:r>
            <a:endParaRPr lang="en-US" sz="1500" dirty="0"/>
          </a:p>
          <a:p>
            <a:pPr marL="0" indent="0">
              <a:buNone/>
            </a:pPr>
            <a:r>
              <a:rPr lang="en-US" sz="1500" dirty="0">
                <a:solidFill>
                  <a:srgbClr val="A9B8D4"/>
                </a:solidFill>
              </a:rPr>
              <a:t>Slow, costly, depends on reviewer skill</a:t>
            </a:r>
            <a:endParaRPr lang="en-US" sz="1500" dirty="0"/>
          </a:p>
        </p:txBody>
      </p:sp>
      <p:sp>
        <p:nvSpPr>
          <p:cNvPr id="9" name="Shape 5"/>
          <p:cNvSpPr/>
          <p:nvPr/>
        </p:nvSpPr>
        <p:spPr>
          <a:xfrm>
            <a:off x="4343400" y="1463040"/>
            <a:ext cx="3566160" cy="4480560"/>
          </a:xfrm>
          <a:prstGeom prst="roundRect">
            <a:avLst>
              <a:gd name="adj" fmla="val 3077"/>
            </a:avLst>
          </a:prstGeom>
          <a:solidFill>
            <a:srgbClr val="12213D"/>
          </a:solidFill>
          <a:ln w="12700">
            <a:solidFill>
              <a:srgbClr val="1B3A66"/>
            </a:solidFill>
            <a:prstDash val="solid"/>
          </a:ln>
        </p:spPr>
      </p:sp>
      <p:sp>
        <p:nvSpPr>
          <p:cNvPr id="10" name="Shape 6"/>
          <p:cNvSpPr/>
          <p:nvPr/>
        </p:nvSpPr>
        <p:spPr>
          <a:xfrm>
            <a:off x="4617720" y="1737360"/>
            <a:ext cx="822960" cy="822960"/>
          </a:xfrm>
          <a:prstGeom prst="ellipse">
            <a:avLst/>
          </a:prstGeom>
          <a:solidFill>
            <a:srgbClr val="1B3A66"/>
          </a:solidFill>
          <a:ln w="12700">
            <a:solidFill>
              <a:srgbClr val="00E5FF"/>
            </a:solidFill>
            <a:prstDash val="solid"/>
          </a:ln>
        </p:spPr>
      </p:sp>
      <p:pic>
        <p:nvPicPr>
          <p:cNvPr id="11" name="Image 1" descr="preencoded.png"/>
          <p:cNvPicPr>
            <a:picLocks noChangeAspect="1"/>
          </p:cNvPicPr>
          <p:nvPr/>
        </p:nvPicPr>
        <p:blipFill>
          <a:blip r:embed="rId4"/>
          <a:stretch>
            <a:fillRect/>
          </a:stretch>
        </p:blipFill>
        <p:spPr>
          <a:xfrm>
            <a:off x="4800600" y="1920240"/>
            <a:ext cx="457200" cy="457200"/>
          </a:xfrm>
          <a:prstGeom prst="rect">
            <a:avLst/>
          </a:prstGeom>
        </p:spPr>
      </p:pic>
      <p:sp>
        <p:nvSpPr>
          <p:cNvPr id="12" name="Text 7"/>
          <p:cNvSpPr txBox="1"/>
          <p:nvPr/>
        </p:nvSpPr>
        <p:spPr>
          <a:xfrm>
            <a:off x="4617720" y="2743200"/>
            <a:ext cx="3017520" cy="457200"/>
          </a:xfrm>
          <a:prstGeom prst="rect">
            <a:avLst/>
          </a:prstGeom>
          <a:noFill/>
          <a:ln/>
        </p:spPr>
        <p:txBody>
          <a:bodyPr wrap="square" lIns="0" tIns="0" rIns="0" bIns="0" rtlCol="0" anchor="ctr"/>
          <a:lstStyle/>
          <a:p>
            <a:pPr marL="0" indent="0">
              <a:buNone/>
            </a:pPr>
            <a:r>
              <a:rPr lang="en-US" sz="2000" b="1" dirty="0">
                <a:solidFill>
                  <a:srgbClr val="FFFFFF"/>
                </a:solidFill>
              </a:rPr>
              <a:t>Static Analysis (SAST)</a:t>
            </a:r>
            <a:endParaRPr lang="en-US" sz="2000" dirty="0"/>
          </a:p>
        </p:txBody>
      </p:sp>
      <p:sp>
        <p:nvSpPr>
          <p:cNvPr id="13" name="Text 8"/>
          <p:cNvSpPr txBox="1"/>
          <p:nvPr/>
        </p:nvSpPr>
        <p:spPr>
          <a:xfrm>
            <a:off x="4617720" y="3291840"/>
            <a:ext cx="3017520" cy="2377440"/>
          </a:xfrm>
          <a:prstGeom prst="rect">
            <a:avLst/>
          </a:prstGeom>
          <a:noFill/>
          <a:ln/>
        </p:spPr>
        <p:txBody>
          <a:bodyPr wrap="square" lIns="0" tIns="0" rIns="0" bIns="0" rtlCol="0" anchor="t"/>
          <a:lstStyle/>
          <a:p>
            <a:pPr marL="0" indent="0">
              <a:buNone/>
            </a:pPr>
            <a:r>
              <a:rPr lang="en-US" sz="1500" b="1" dirty="0">
                <a:solidFill>
                  <a:srgbClr val="39FF9C"/>
                </a:solidFill>
              </a:rPr>
              <a:t>Strength</a:t>
            </a:r>
            <a:endParaRPr lang="en-US" sz="1500" dirty="0"/>
          </a:p>
          <a:p>
            <a:pPr marL="0" indent="0">
              <a:buNone/>
            </a:pPr>
            <a:r>
              <a:rPr lang="en-US" sz="1500" dirty="0">
                <a:solidFill>
                  <a:srgbClr val="A9B8D4"/>
                </a:solidFill>
              </a:rPr>
              <a:t>Automated, rule-based checks</a:t>
            </a:r>
            <a:endParaRPr lang="en-US" sz="1500" dirty="0"/>
          </a:p>
          <a:p>
            <a:pPr marL="0" indent="0">
              <a:buNone/>
            </a:pPr>
            <a:r>
              <a:rPr lang="en-US" sz="1500" dirty="0">
                <a:solidFill>
                  <a:srgbClr val="000000"/>
                </a:solidFill>
              </a:rPr>
              <a:t> </a:t>
            </a:r>
            <a:endParaRPr lang="en-US" sz="1500" dirty="0"/>
          </a:p>
          <a:p>
            <a:pPr marL="0" indent="0">
              <a:buNone/>
            </a:pPr>
            <a:r>
              <a:rPr lang="en-US" sz="1500" b="1" dirty="0">
                <a:solidFill>
                  <a:srgbClr val="FF4D6D"/>
                </a:solidFill>
              </a:rPr>
              <a:t>Limitation</a:t>
            </a:r>
            <a:endParaRPr lang="en-US" sz="1500" dirty="0"/>
          </a:p>
          <a:p>
            <a:pPr marL="0" indent="0">
              <a:buNone/>
            </a:pPr>
            <a:r>
              <a:rPr lang="en-US" sz="1500" dirty="0">
                <a:solidFill>
                  <a:srgbClr val="A9B8D4"/>
                </a:solidFill>
              </a:rPr>
              <a:t>Fixed rules; alerts often lack context and explanation</a:t>
            </a:r>
            <a:endParaRPr lang="en-US" sz="1500" dirty="0"/>
          </a:p>
        </p:txBody>
      </p:sp>
      <p:sp>
        <p:nvSpPr>
          <p:cNvPr id="14" name="Shape 9"/>
          <p:cNvSpPr/>
          <p:nvPr/>
        </p:nvSpPr>
        <p:spPr>
          <a:xfrm>
            <a:off x="8138160" y="1463040"/>
            <a:ext cx="3566160" cy="4480560"/>
          </a:xfrm>
          <a:prstGeom prst="roundRect">
            <a:avLst>
              <a:gd name="adj" fmla="val 3077"/>
            </a:avLst>
          </a:prstGeom>
          <a:solidFill>
            <a:srgbClr val="12213D"/>
          </a:solidFill>
          <a:ln w="12700">
            <a:solidFill>
              <a:srgbClr val="1B3A66"/>
            </a:solidFill>
            <a:prstDash val="solid"/>
          </a:ln>
        </p:spPr>
      </p:sp>
      <p:sp>
        <p:nvSpPr>
          <p:cNvPr id="15" name="Shape 10"/>
          <p:cNvSpPr/>
          <p:nvPr/>
        </p:nvSpPr>
        <p:spPr>
          <a:xfrm>
            <a:off x="8412480" y="1737360"/>
            <a:ext cx="822960" cy="822960"/>
          </a:xfrm>
          <a:prstGeom prst="ellipse">
            <a:avLst/>
          </a:prstGeom>
          <a:solidFill>
            <a:srgbClr val="1B3A66"/>
          </a:solidFill>
          <a:ln w="12700">
            <a:solidFill>
              <a:srgbClr val="00E5FF"/>
            </a:solidFill>
            <a:prstDash val="solid"/>
          </a:ln>
        </p:spPr>
      </p:sp>
      <p:pic>
        <p:nvPicPr>
          <p:cNvPr id="16" name="Image 2" descr="preencoded.png"/>
          <p:cNvPicPr>
            <a:picLocks noChangeAspect="1"/>
          </p:cNvPicPr>
          <p:nvPr/>
        </p:nvPicPr>
        <p:blipFill>
          <a:blip r:embed="rId5"/>
          <a:stretch>
            <a:fillRect/>
          </a:stretch>
        </p:blipFill>
        <p:spPr>
          <a:xfrm>
            <a:off x="8595360" y="1920240"/>
            <a:ext cx="457200" cy="457200"/>
          </a:xfrm>
          <a:prstGeom prst="rect">
            <a:avLst/>
          </a:prstGeom>
        </p:spPr>
      </p:pic>
      <p:sp>
        <p:nvSpPr>
          <p:cNvPr id="17" name="Text 11"/>
          <p:cNvSpPr txBox="1"/>
          <p:nvPr/>
        </p:nvSpPr>
        <p:spPr>
          <a:xfrm>
            <a:off x="8412480" y="2743200"/>
            <a:ext cx="3017520" cy="457200"/>
          </a:xfrm>
          <a:prstGeom prst="rect">
            <a:avLst/>
          </a:prstGeom>
          <a:noFill/>
          <a:ln/>
        </p:spPr>
        <p:txBody>
          <a:bodyPr wrap="square" lIns="0" tIns="0" rIns="0" bIns="0" rtlCol="0" anchor="ctr"/>
          <a:lstStyle/>
          <a:p>
            <a:pPr marL="0" indent="0">
              <a:buNone/>
            </a:pPr>
            <a:r>
              <a:rPr lang="en-US" sz="2000" b="1" dirty="0">
                <a:solidFill>
                  <a:srgbClr val="FFFFFF"/>
                </a:solidFill>
              </a:rPr>
              <a:t>Pattern / Keyword Scanners</a:t>
            </a:r>
            <a:endParaRPr lang="en-US" sz="2000" dirty="0"/>
          </a:p>
        </p:txBody>
      </p:sp>
      <p:sp>
        <p:nvSpPr>
          <p:cNvPr id="18" name="Text 12"/>
          <p:cNvSpPr txBox="1"/>
          <p:nvPr/>
        </p:nvSpPr>
        <p:spPr>
          <a:xfrm>
            <a:off x="8412480" y="3291840"/>
            <a:ext cx="3017520" cy="2377440"/>
          </a:xfrm>
          <a:prstGeom prst="rect">
            <a:avLst/>
          </a:prstGeom>
          <a:noFill/>
          <a:ln/>
        </p:spPr>
        <p:txBody>
          <a:bodyPr wrap="square" lIns="0" tIns="0" rIns="0" bIns="0" rtlCol="0" anchor="t"/>
          <a:lstStyle/>
          <a:p>
            <a:pPr marL="0" indent="0">
              <a:buNone/>
            </a:pPr>
            <a:r>
              <a:rPr lang="en-US" sz="1500" b="1" dirty="0">
                <a:solidFill>
                  <a:srgbClr val="39FF9C"/>
                </a:solidFill>
              </a:rPr>
              <a:t>Strength</a:t>
            </a:r>
            <a:endParaRPr lang="en-US" sz="1500" dirty="0"/>
          </a:p>
          <a:p>
            <a:pPr marL="0" indent="0">
              <a:buNone/>
            </a:pPr>
            <a:r>
              <a:rPr lang="en-US" sz="1500" dirty="0">
                <a:solidFill>
                  <a:srgbClr val="A9B8D4"/>
                </a:solidFill>
              </a:rPr>
              <a:t>Fast and simple to run</a:t>
            </a:r>
            <a:endParaRPr lang="en-US" sz="1500" dirty="0"/>
          </a:p>
          <a:p>
            <a:pPr marL="0" indent="0">
              <a:buNone/>
            </a:pPr>
            <a:r>
              <a:rPr lang="en-US" sz="1500" dirty="0">
                <a:solidFill>
                  <a:srgbClr val="000000"/>
                </a:solidFill>
              </a:rPr>
              <a:t> </a:t>
            </a:r>
            <a:endParaRPr lang="en-US" sz="1500" dirty="0"/>
          </a:p>
          <a:p>
            <a:pPr marL="0" indent="0">
              <a:buNone/>
            </a:pPr>
            <a:r>
              <a:rPr lang="en-US" sz="1500" b="1" dirty="0">
                <a:solidFill>
                  <a:srgbClr val="FF4D6D"/>
                </a:solidFill>
              </a:rPr>
              <a:t>Limitation</a:t>
            </a:r>
            <a:endParaRPr lang="en-US" sz="1500" dirty="0"/>
          </a:p>
          <a:p>
            <a:pPr marL="0" indent="0">
              <a:buNone/>
            </a:pPr>
            <a:r>
              <a:rPr lang="en-US" sz="1500" dirty="0">
                <a:solidFill>
                  <a:srgbClr val="A9B8D4"/>
                </a:solidFill>
              </a:rPr>
              <a:t>Can miss logic flaws and flag harmless code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Proposed System</a:t>
            </a:r>
            <a:endParaRPr lang="en-US" sz="3600" dirty="0"/>
          </a:p>
        </p:txBody>
      </p:sp>
      <p:sp>
        <p:nvSpPr>
          <p:cNvPr id="4" name="Shape 1"/>
          <p:cNvSpPr/>
          <p:nvPr/>
        </p:nvSpPr>
        <p:spPr>
          <a:xfrm>
            <a:off x="548640" y="1371600"/>
            <a:ext cx="5394960" cy="1417320"/>
          </a:xfrm>
          <a:prstGeom prst="roundRect">
            <a:avLst>
              <a:gd name="adj" fmla="val 7742"/>
            </a:avLst>
          </a:prstGeom>
          <a:solidFill>
            <a:srgbClr val="12213D"/>
          </a:solidFill>
          <a:ln w="12700">
            <a:solidFill>
              <a:srgbClr val="1B3A66"/>
            </a:solidFill>
            <a:prstDash val="solid"/>
          </a:ln>
        </p:spPr>
      </p:sp>
      <p:sp>
        <p:nvSpPr>
          <p:cNvPr id="5" name="Shape 2"/>
          <p:cNvSpPr/>
          <p:nvPr/>
        </p:nvSpPr>
        <p:spPr>
          <a:xfrm>
            <a:off x="777240" y="1600200"/>
            <a:ext cx="640080" cy="640080"/>
          </a:xfrm>
          <a:prstGeom prst="ellipse">
            <a:avLst/>
          </a:prstGeom>
          <a:solidFill>
            <a:srgbClr val="1B3A66"/>
          </a:solidFill>
          <a:ln w="12700">
            <a:solidFill>
              <a:srgbClr val="00E5FF"/>
            </a:solidFill>
            <a:prstDash val="solid"/>
          </a:ln>
        </p:spPr>
      </p:sp>
      <p:pic>
        <p:nvPicPr>
          <p:cNvPr id="6" name="Image 0" descr="preencoded.png"/>
          <p:cNvPicPr>
            <a:picLocks noChangeAspect="1"/>
          </p:cNvPicPr>
          <p:nvPr/>
        </p:nvPicPr>
        <p:blipFill>
          <a:blip r:embed="rId3"/>
          <a:stretch>
            <a:fillRect/>
          </a:stretch>
        </p:blipFill>
        <p:spPr>
          <a:xfrm>
            <a:off x="941832" y="1764792"/>
            <a:ext cx="310896" cy="310896"/>
          </a:xfrm>
          <a:prstGeom prst="rect">
            <a:avLst/>
          </a:prstGeom>
        </p:spPr>
      </p:pic>
      <p:sp>
        <p:nvSpPr>
          <p:cNvPr id="7" name="Text 3"/>
          <p:cNvSpPr txBox="1"/>
          <p:nvPr/>
        </p:nvSpPr>
        <p:spPr>
          <a:xfrm>
            <a:off x="1554480" y="155448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Structure-aware parsing</a:t>
            </a:r>
            <a:endParaRPr lang="en-US" sz="1800" dirty="0"/>
          </a:p>
        </p:txBody>
      </p:sp>
      <p:sp>
        <p:nvSpPr>
          <p:cNvPr id="8" name="Text 4"/>
          <p:cNvSpPr txBox="1"/>
          <p:nvPr/>
        </p:nvSpPr>
        <p:spPr>
          <a:xfrm>
            <a:off x="1554480" y="1965960"/>
            <a:ext cx="4206240" cy="685800"/>
          </a:xfrm>
          <a:prstGeom prst="rect">
            <a:avLst/>
          </a:prstGeom>
          <a:noFill/>
          <a:ln/>
        </p:spPr>
        <p:txBody>
          <a:bodyPr wrap="square" lIns="0" tIns="0" rIns="0" bIns="0" rtlCol="0" anchor="t"/>
          <a:lstStyle/>
          <a:p>
            <a:pPr marL="0" indent="0">
              <a:buNone/>
            </a:pPr>
            <a:r>
              <a:rPr lang="en-US" sz="1400" dirty="0">
                <a:solidFill>
                  <a:srgbClr val="A9B8D4"/>
                </a:solidFill>
              </a:rPr>
              <a:t>Tree-sitter breaks code into functions and classes</a:t>
            </a:r>
            <a:endParaRPr lang="en-US" sz="1400" dirty="0"/>
          </a:p>
        </p:txBody>
      </p:sp>
      <p:sp>
        <p:nvSpPr>
          <p:cNvPr id="9" name="Shape 5"/>
          <p:cNvSpPr/>
          <p:nvPr/>
        </p:nvSpPr>
        <p:spPr>
          <a:xfrm>
            <a:off x="6217920" y="1371600"/>
            <a:ext cx="5394960" cy="1417320"/>
          </a:xfrm>
          <a:prstGeom prst="roundRect">
            <a:avLst>
              <a:gd name="adj" fmla="val 7742"/>
            </a:avLst>
          </a:prstGeom>
          <a:solidFill>
            <a:srgbClr val="12213D"/>
          </a:solidFill>
          <a:ln w="12700">
            <a:solidFill>
              <a:srgbClr val="1B3A66"/>
            </a:solidFill>
            <a:prstDash val="solid"/>
          </a:ln>
        </p:spPr>
      </p:sp>
      <p:sp>
        <p:nvSpPr>
          <p:cNvPr id="10" name="Shape 6"/>
          <p:cNvSpPr/>
          <p:nvPr/>
        </p:nvSpPr>
        <p:spPr>
          <a:xfrm>
            <a:off x="6446520" y="1600200"/>
            <a:ext cx="640080" cy="640080"/>
          </a:xfrm>
          <a:prstGeom prst="ellipse">
            <a:avLst/>
          </a:prstGeom>
          <a:solidFill>
            <a:srgbClr val="1B3A66"/>
          </a:solidFill>
          <a:ln w="12700">
            <a:solidFill>
              <a:srgbClr val="00E5FF"/>
            </a:solidFill>
            <a:prstDash val="solid"/>
          </a:ln>
        </p:spPr>
      </p:sp>
      <p:pic>
        <p:nvPicPr>
          <p:cNvPr id="11" name="Image 1" descr="preencoded.png"/>
          <p:cNvPicPr>
            <a:picLocks noChangeAspect="1"/>
          </p:cNvPicPr>
          <p:nvPr/>
        </p:nvPicPr>
        <p:blipFill>
          <a:blip r:embed="rId4"/>
          <a:stretch>
            <a:fillRect/>
          </a:stretch>
        </p:blipFill>
        <p:spPr>
          <a:xfrm>
            <a:off x="6611112" y="1764792"/>
            <a:ext cx="310896" cy="310896"/>
          </a:xfrm>
          <a:prstGeom prst="rect">
            <a:avLst/>
          </a:prstGeom>
        </p:spPr>
      </p:pic>
      <p:sp>
        <p:nvSpPr>
          <p:cNvPr id="12" name="Text 7"/>
          <p:cNvSpPr txBox="1"/>
          <p:nvPr/>
        </p:nvSpPr>
        <p:spPr>
          <a:xfrm>
            <a:off x="7223760" y="155448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Semantic matching</a:t>
            </a:r>
            <a:endParaRPr lang="en-US" sz="1800" dirty="0"/>
          </a:p>
        </p:txBody>
      </p:sp>
      <p:sp>
        <p:nvSpPr>
          <p:cNvPr id="13" name="Text 8"/>
          <p:cNvSpPr txBox="1"/>
          <p:nvPr/>
        </p:nvSpPr>
        <p:spPr>
          <a:xfrm>
            <a:off x="7223760" y="1965960"/>
            <a:ext cx="4206240" cy="685800"/>
          </a:xfrm>
          <a:prstGeom prst="rect">
            <a:avLst/>
          </a:prstGeom>
          <a:noFill/>
          <a:ln/>
        </p:spPr>
        <p:txBody>
          <a:bodyPr wrap="square" lIns="0" tIns="0" rIns="0" bIns="0" rtlCol="0" anchor="t"/>
          <a:lstStyle/>
          <a:p>
            <a:pPr marL="0" indent="0">
              <a:buNone/>
            </a:pPr>
            <a:r>
              <a:rPr lang="en-US" sz="1400" dirty="0">
                <a:solidFill>
                  <a:srgbClr val="A9B8D4"/>
                </a:solidFill>
              </a:rPr>
              <a:t>Embeddings highlight code resembling risky patterns</a:t>
            </a:r>
            <a:endParaRPr lang="en-US" sz="1400" dirty="0"/>
          </a:p>
        </p:txBody>
      </p:sp>
      <p:sp>
        <p:nvSpPr>
          <p:cNvPr id="14" name="Shape 9"/>
          <p:cNvSpPr/>
          <p:nvPr/>
        </p:nvSpPr>
        <p:spPr>
          <a:xfrm>
            <a:off x="548640" y="3017520"/>
            <a:ext cx="5394960" cy="1417320"/>
          </a:xfrm>
          <a:prstGeom prst="roundRect">
            <a:avLst>
              <a:gd name="adj" fmla="val 7742"/>
            </a:avLst>
          </a:prstGeom>
          <a:solidFill>
            <a:srgbClr val="12213D"/>
          </a:solidFill>
          <a:ln w="12700">
            <a:solidFill>
              <a:srgbClr val="1B3A66"/>
            </a:solidFill>
            <a:prstDash val="solid"/>
          </a:ln>
        </p:spPr>
      </p:sp>
      <p:sp>
        <p:nvSpPr>
          <p:cNvPr id="15" name="Shape 10"/>
          <p:cNvSpPr/>
          <p:nvPr/>
        </p:nvSpPr>
        <p:spPr>
          <a:xfrm>
            <a:off x="777240" y="3246120"/>
            <a:ext cx="640080" cy="640080"/>
          </a:xfrm>
          <a:prstGeom prst="ellipse">
            <a:avLst/>
          </a:prstGeom>
          <a:solidFill>
            <a:srgbClr val="1B3A66"/>
          </a:solidFill>
          <a:ln w="12700">
            <a:solidFill>
              <a:srgbClr val="00E5FF"/>
            </a:solidFill>
            <a:prstDash val="solid"/>
          </a:ln>
        </p:spPr>
      </p:sp>
      <p:pic>
        <p:nvPicPr>
          <p:cNvPr id="16" name="Image 2" descr="preencoded.png"/>
          <p:cNvPicPr>
            <a:picLocks noChangeAspect="1"/>
          </p:cNvPicPr>
          <p:nvPr/>
        </p:nvPicPr>
        <p:blipFill>
          <a:blip r:embed="rId5"/>
          <a:stretch>
            <a:fillRect/>
          </a:stretch>
        </p:blipFill>
        <p:spPr>
          <a:xfrm>
            <a:off x="941832" y="3410712"/>
            <a:ext cx="310896" cy="310896"/>
          </a:xfrm>
          <a:prstGeom prst="rect">
            <a:avLst/>
          </a:prstGeom>
        </p:spPr>
      </p:pic>
      <p:sp>
        <p:nvSpPr>
          <p:cNvPr id="17" name="Text 11"/>
          <p:cNvSpPr txBox="1"/>
          <p:nvPr/>
        </p:nvSpPr>
        <p:spPr>
          <a:xfrm>
            <a:off x="1554480" y="320040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LLM explanation</a:t>
            </a:r>
            <a:endParaRPr lang="en-US" sz="1800" dirty="0"/>
          </a:p>
        </p:txBody>
      </p:sp>
      <p:sp>
        <p:nvSpPr>
          <p:cNvPr id="18" name="Text 12"/>
          <p:cNvSpPr txBox="1"/>
          <p:nvPr/>
        </p:nvSpPr>
        <p:spPr>
          <a:xfrm>
            <a:off x="1554480" y="3611880"/>
            <a:ext cx="4206240" cy="685800"/>
          </a:xfrm>
          <a:prstGeom prst="rect">
            <a:avLst/>
          </a:prstGeom>
          <a:noFill/>
          <a:ln/>
        </p:spPr>
        <p:txBody>
          <a:bodyPr wrap="square" lIns="0" tIns="0" rIns="0" bIns="0" rtlCol="0" anchor="t"/>
          <a:lstStyle/>
          <a:p>
            <a:pPr marL="0" indent="0">
              <a:buNone/>
            </a:pPr>
            <a:r>
              <a:rPr lang="en-US" sz="1400" dirty="0">
                <a:solidFill>
                  <a:srgbClr val="A9B8D4"/>
                </a:solidFill>
              </a:rPr>
              <a:t>Plain-language reasons why the code may be unsafe</a:t>
            </a:r>
            <a:endParaRPr lang="en-US" sz="1400" dirty="0"/>
          </a:p>
        </p:txBody>
      </p:sp>
      <p:sp>
        <p:nvSpPr>
          <p:cNvPr id="19" name="Shape 13"/>
          <p:cNvSpPr/>
          <p:nvPr/>
        </p:nvSpPr>
        <p:spPr>
          <a:xfrm>
            <a:off x="6217920" y="3017520"/>
            <a:ext cx="5394960" cy="1417320"/>
          </a:xfrm>
          <a:prstGeom prst="roundRect">
            <a:avLst>
              <a:gd name="adj" fmla="val 7742"/>
            </a:avLst>
          </a:prstGeom>
          <a:solidFill>
            <a:srgbClr val="12213D"/>
          </a:solidFill>
          <a:ln w="12700">
            <a:solidFill>
              <a:srgbClr val="1B3A66"/>
            </a:solidFill>
            <a:prstDash val="solid"/>
          </a:ln>
        </p:spPr>
      </p:sp>
      <p:sp>
        <p:nvSpPr>
          <p:cNvPr id="20" name="Shape 14"/>
          <p:cNvSpPr/>
          <p:nvPr/>
        </p:nvSpPr>
        <p:spPr>
          <a:xfrm>
            <a:off x="6446520" y="3246120"/>
            <a:ext cx="640080" cy="640080"/>
          </a:xfrm>
          <a:prstGeom prst="ellipse">
            <a:avLst/>
          </a:prstGeom>
          <a:solidFill>
            <a:srgbClr val="1B3A66"/>
          </a:solidFill>
          <a:ln w="12700">
            <a:solidFill>
              <a:srgbClr val="00E5FF"/>
            </a:solidFill>
            <a:prstDash val="solid"/>
          </a:ln>
        </p:spPr>
      </p:sp>
      <p:pic>
        <p:nvPicPr>
          <p:cNvPr id="21" name="Image 3" descr="preencoded.png"/>
          <p:cNvPicPr>
            <a:picLocks noChangeAspect="1"/>
          </p:cNvPicPr>
          <p:nvPr/>
        </p:nvPicPr>
        <p:blipFill>
          <a:blip r:embed="rId6"/>
          <a:stretch>
            <a:fillRect/>
          </a:stretch>
        </p:blipFill>
        <p:spPr>
          <a:xfrm>
            <a:off x="6611112" y="3410712"/>
            <a:ext cx="310896" cy="310896"/>
          </a:xfrm>
          <a:prstGeom prst="rect">
            <a:avLst/>
          </a:prstGeom>
        </p:spPr>
      </p:pic>
      <p:sp>
        <p:nvSpPr>
          <p:cNvPr id="22" name="Text 15"/>
          <p:cNvSpPr txBox="1"/>
          <p:nvPr/>
        </p:nvSpPr>
        <p:spPr>
          <a:xfrm>
            <a:off x="7223760" y="320040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Standards-based</a:t>
            </a:r>
            <a:endParaRPr lang="en-US" sz="1800" dirty="0"/>
          </a:p>
        </p:txBody>
      </p:sp>
      <p:sp>
        <p:nvSpPr>
          <p:cNvPr id="23" name="Text 16"/>
          <p:cNvSpPr txBox="1"/>
          <p:nvPr/>
        </p:nvSpPr>
        <p:spPr>
          <a:xfrm>
            <a:off x="7223760" y="3611880"/>
            <a:ext cx="4206240" cy="685800"/>
          </a:xfrm>
          <a:prstGeom prst="rect">
            <a:avLst/>
          </a:prstGeom>
          <a:noFill/>
          <a:ln/>
        </p:spPr>
        <p:txBody>
          <a:bodyPr wrap="square" lIns="0" tIns="0" rIns="0" bIns="0" rtlCol="0" anchor="t"/>
          <a:lstStyle/>
          <a:p>
            <a:pPr marL="0" indent="0">
              <a:buNone/>
            </a:pPr>
            <a:r>
              <a:rPr lang="en-US" sz="1400" dirty="0">
                <a:solidFill>
                  <a:srgbClr val="A9B8D4"/>
                </a:solidFill>
              </a:rPr>
              <a:t>Findings mapped to OWASP and CWE</a:t>
            </a:r>
            <a:endParaRPr lang="en-US" sz="1400" dirty="0"/>
          </a:p>
        </p:txBody>
      </p:sp>
      <p:sp>
        <p:nvSpPr>
          <p:cNvPr id="24" name="Shape 17"/>
          <p:cNvSpPr/>
          <p:nvPr/>
        </p:nvSpPr>
        <p:spPr>
          <a:xfrm>
            <a:off x="548640" y="4663440"/>
            <a:ext cx="5394960" cy="1417320"/>
          </a:xfrm>
          <a:prstGeom prst="roundRect">
            <a:avLst>
              <a:gd name="adj" fmla="val 7742"/>
            </a:avLst>
          </a:prstGeom>
          <a:solidFill>
            <a:srgbClr val="12213D"/>
          </a:solidFill>
          <a:ln w="12700">
            <a:solidFill>
              <a:srgbClr val="1B3A66"/>
            </a:solidFill>
            <a:prstDash val="solid"/>
          </a:ln>
        </p:spPr>
      </p:sp>
      <p:sp>
        <p:nvSpPr>
          <p:cNvPr id="25" name="Shape 18"/>
          <p:cNvSpPr/>
          <p:nvPr/>
        </p:nvSpPr>
        <p:spPr>
          <a:xfrm>
            <a:off x="777240" y="4892040"/>
            <a:ext cx="640080" cy="640080"/>
          </a:xfrm>
          <a:prstGeom prst="ellipse">
            <a:avLst/>
          </a:prstGeom>
          <a:solidFill>
            <a:srgbClr val="1B3A66"/>
          </a:solidFill>
          <a:ln w="12700">
            <a:solidFill>
              <a:srgbClr val="00E5FF"/>
            </a:solidFill>
            <a:prstDash val="solid"/>
          </a:ln>
        </p:spPr>
      </p:sp>
      <p:pic>
        <p:nvPicPr>
          <p:cNvPr id="26" name="Image 4" descr="preencoded.png"/>
          <p:cNvPicPr>
            <a:picLocks noChangeAspect="1"/>
          </p:cNvPicPr>
          <p:nvPr/>
        </p:nvPicPr>
        <p:blipFill>
          <a:blip r:embed="rId7"/>
          <a:stretch>
            <a:fillRect/>
          </a:stretch>
        </p:blipFill>
        <p:spPr>
          <a:xfrm>
            <a:off x="941832" y="5056632"/>
            <a:ext cx="310896" cy="310896"/>
          </a:xfrm>
          <a:prstGeom prst="rect">
            <a:avLst/>
          </a:prstGeom>
        </p:spPr>
      </p:pic>
      <p:sp>
        <p:nvSpPr>
          <p:cNvPr id="27" name="Text 19"/>
          <p:cNvSpPr txBox="1"/>
          <p:nvPr/>
        </p:nvSpPr>
        <p:spPr>
          <a:xfrm>
            <a:off x="1554480" y="484632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Fix suggestions</a:t>
            </a:r>
            <a:endParaRPr lang="en-US" sz="1800" dirty="0"/>
          </a:p>
        </p:txBody>
      </p:sp>
      <p:sp>
        <p:nvSpPr>
          <p:cNvPr id="28" name="Text 20"/>
          <p:cNvSpPr txBox="1"/>
          <p:nvPr/>
        </p:nvSpPr>
        <p:spPr>
          <a:xfrm>
            <a:off x="1554480" y="5257800"/>
            <a:ext cx="4206240" cy="685800"/>
          </a:xfrm>
          <a:prstGeom prst="rect">
            <a:avLst/>
          </a:prstGeom>
          <a:noFill/>
          <a:ln/>
        </p:spPr>
        <p:txBody>
          <a:bodyPr wrap="square" lIns="0" tIns="0" rIns="0" bIns="0" rtlCol="0" anchor="t"/>
          <a:lstStyle/>
          <a:p>
            <a:pPr marL="0" indent="0">
              <a:buNone/>
            </a:pPr>
            <a:r>
              <a:rPr lang="en-US" sz="1400" dirty="0">
                <a:solidFill>
                  <a:srgbClr val="A9B8D4"/>
                </a:solidFill>
              </a:rPr>
              <a:t>Possible remediation shown with each finding</a:t>
            </a:r>
            <a:endParaRPr lang="en-US" sz="1400" dirty="0"/>
          </a:p>
        </p:txBody>
      </p:sp>
      <p:sp>
        <p:nvSpPr>
          <p:cNvPr id="29" name="Shape 21"/>
          <p:cNvSpPr/>
          <p:nvPr/>
        </p:nvSpPr>
        <p:spPr>
          <a:xfrm>
            <a:off x="6217920" y="4663440"/>
            <a:ext cx="5394960" cy="1417320"/>
          </a:xfrm>
          <a:prstGeom prst="roundRect">
            <a:avLst>
              <a:gd name="adj" fmla="val 7742"/>
            </a:avLst>
          </a:prstGeom>
          <a:solidFill>
            <a:srgbClr val="12213D"/>
          </a:solidFill>
          <a:ln w="12700">
            <a:solidFill>
              <a:srgbClr val="1B3A66"/>
            </a:solidFill>
            <a:prstDash val="solid"/>
          </a:ln>
        </p:spPr>
      </p:sp>
      <p:sp>
        <p:nvSpPr>
          <p:cNvPr id="30" name="Shape 22"/>
          <p:cNvSpPr/>
          <p:nvPr/>
        </p:nvSpPr>
        <p:spPr>
          <a:xfrm>
            <a:off x="6446520" y="4892040"/>
            <a:ext cx="640080" cy="640080"/>
          </a:xfrm>
          <a:prstGeom prst="ellipse">
            <a:avLst/>
          </a:prstGeom>
          <a:solidFill>
            <a:srgbClr val="1B3A66"/>
          </a:solidFill>
          <a:ln w="12700">
            <a:solidFill>
              <a:srgbClr val="00E5FF"/>
            </a:solidFill>
            <a:prstDash val="solid"/>
          </a:ln>
        </p:spPr>
      </p:sp>
      <p:pic>
        <p:nvPicPr>
          <p:cNvPr id="31" name="Image 5" descr="preencoded.png"/>
          <p:cNvPicPr>
            <a:picLocks noChangeAspect="1"/>
          </p:cNvPicPr>
          <p:nvPr/>
        </p:nvPicPr>
        <p:blipFill>
          <a:blip r:embed="rId8"/>
          <a:stretch>
            <a:fillRect/>
          </a:stretch>
        </p:blipFill>
        <p:spPr>
          <a:xfrm>
            <a:off x="6611112" y="5056632"/>
            <a:ext cx="310896" cy="310896"/>
          </a:xfrm>
          <a:prstGeom prst="rect">
            <a:avLst/>
          </a:prstGeom>
        </p:spPr>
      </p:pic>
      <p:sp>
        <p:nvSpPr>
          <p:cNvPr id="32" name="Text 23"/>
          <p:cNvSpPr txBox="1"/>
          <p:nvPr/>
        </p:nvSpPr>
        <p:spPr>
          <a:xfrm>
            <a:off x="7223760" y="484632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Easy input</a:t>
            </a:r>
            <a:endParaRPr lang="en-US" sz="1800" dirty="0"/>
          </a:p>
        </p:txBody>
      </p:sp>
      <p:sp>
        <p:nvSpPr>
          <p:cNvPr id="33" name="Text 24"/>
          <p:cNvSpPr txBox="1"/>
          <p:nvPr/>
        </p:nvSpPr>
        <p:spPr>
          <a:xfrm>
            <a:off x="7223760" y="5257800"/>
            <a:ext cx="4206240" cy="685800"/>
          </a:xfrm>
          <a:prstGeom prst="rect">
            <a:avLst/>
          </a:prstGeom>
          <a:noFill/>
          <a:ln/>
        </p:spPr>
        <p:txBody>
          <a:bodyPr wrap="square" lIns="0" tIns="0" rIns="0" bIns="0" rtlCol="0" anchor="t"/>
          <a:lstStyle/>
          <a:p>
            <a:pPr marL="0" indent="0">
              <a:buNone/>
            </a:pPr>
            <a:r>
              <a:rPr lang="en-US" sz="1400" dirty="0">
                <a:solidFill>
                  <a:srgbClr val="A9B8D4"/>
                </a:solidFill>
              </a:rPr>
              <a:t>Submit a GitHub repository or source code</a:t>
            </a:r>
            <a:endParaRPr lang="en-US" sz="14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System Architecture</a:t>
            </a:r>
            <a:endParaRPr lang="en-US" sz="3600" dirty="0"/>
          </a:p>
        </p:txBody>
      </p:sp>
      <p:sp>
        <p:nvSpPr>
          <p:cNvPr id="4" name="Shape 1"/>
          <p:cNvSpPr/>
          <p:nvPr/>
        </p:nvSpPr>
        <p:spPr>
          <a:xfrm>
            <a:off x="640080" y="1417320"/>
            <a:ext cx="2286000" cy="1051560"/>
          </a:xfrm>
          <a:prstGeom prst="roundRect">
            <a:avLst>
              <a:gd name="adj" fmla="val 10435"/>
            </a:avLst>
          </a:prstGeom>
          <a:solidFill>
            <a:srgbClr val="12213D"/>
          </a:solidFill>
          <a:ln w="15875">
            <a:solidFill>
              <a:srgbClr val="2F80ED"/>
            </a:solidFill>
            <a:prstDash val="solid"/>
          </a:ln>
        </p:spPr>
      </p:sp>
      <p:pic>
        <p:nvPicPr>
          <p:cNvPr id="5" name="Image 0" descr="preencoded.png"/>
          <p:cNvPicPr>
            <a:picLocks noChangeAspect="1"/>
          </p:cNvPicPr>
          <p:nvPr/>
        </p:nvPicPr>
        <p:blipFill>
          <a:blip r:embed="rId3"/>
          <a:stretch>
            <a:fillRect/>
          </a:stretch>
        </p:blipFill>
        <p:spPr>
          <a:xfrm>
            <a:off x="777240" y="1600200"/>
            <a:ext cx="411480" cy="411480"/>
          </a:xfrm>
          <a:prstGeom prst="rect">
            <a:avLst/>
          </a:prstGeom>
        </p:spPr>
      </p:pic>
      <p:sp>
        <p:nvSpPr>
          <p:cNvPr id="6" name="Text 2"/>
          <p:cNvSpPr txBox="1"/>
          <p:nvPr/>
        </p:nvSpPr>
        <p:spPr>
          <a:xfrm>
            <a:off x="1280160" y="150876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User</a:t>
            </a:r>
            <a:endParaRPr lang="en-US" sz="1500" dirty="0"/>
          </a:p>
        </p:txBody>
      </p:sp>
      <p:sp>
        <p:nvSpPr>
          <p:cNvPr id="7" name="Text 3"/>
          <p:cNvSpPr txBox="1"/>
          <p:nvPr/>
        </p:nvSpPr>
        <p:spPr>
          <a:xfrm>
            <a:off x="777240" y="2103120"/>
            <a:ext cx="2011680" cy="320040"/>
          </a:xfrm>
          <a:prstGeom prst="rect">
            <a:avLst/>
          </a:prstGeom>
          <a:noFill/>
          <a:ln/>
        </p:spPr>
        <p:txBody>
          <a:bodyPr wrap="square" lIns="0" tIns="0" rIns="0" bIns="0" rtlCol="0" anchor="ctr"/>
          <a:lstStyle/>
          <a:p>
            <a:pPr marL="0" indent="0">
              <a:buNone/>
            </a:pPr>
            <a:r>
              <a:rPr lang="en-US" sz="1100" dirty="0">
                <a:solidFill>
                  <a:srgbClr val="A9B8D4"/>
                </a:solidFill>
              </a:rPr>
              <a:t>Submits repo URL / code</a:t>
            </a:r>
            <a:endParaRPr lang="en-US" sz="1100" dirty="0"/>
          </a:p>
        </p:txBody>
      </p:sp>
      <p:sp>
        <p:nvSpPr>
          <p:cNvPr id="8" name="Shape 4"/>
          <p:cNvSpPr/>
          <p:nvPr/>
        </p:nvSpPr>
        <p:spPr>
          <a:xfrm>
            <a:off x="512064" y="1289304"/>
            <a:ext cx="347472" cy="347472"/>
          </a:xfrm>
          <a:prstGeom prst="ellipse">
            <a:avLst/>
          </a:prstGeom>
          <a:solidFill>
            <a:srgbClr val="00E5FF"/>
          </a:solidFill>
          <a:ln w="12700">
            <a:solidFill>
              <a:srgbClr val="0B1426"/>
            </a:solidFill>
            <a:prstDash val="solid"/>
          </a:ln>
        </p:spPr>
      </p:sp>
      <p:sp>
        <p:nvSpPr>
          <p:cNvPr id="9" name="Text 5"/>
          <p:cNvSpPr txBox="1"/>
          <p:nvPr/>
        </p:nvSpPr>
        <p:spPr>
          <a:xfrm>
            <a:off x="512064" y="128930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1</a:t>
            </a:r>
            <a:endParaRPr lang="en-US" sz="1200" dirty="0"/>
          </a:p>
        </p:txBody>
      </p:sp>
      <p:sp>
        <p:nvSpPr>
          <p:cNvPr id="10" name="Shape 6"/>
          <p:cNvSpPr/>
          <p:nvPr/>
        </p:nvSpPr>
        <p:spPr>
          <a:xfrm>
            <a:off x="3566160" y="1417320"/>
            <a:ext cx="2286000" cy="1051560"/>
          </a:xfrm>
          <a:prstGeom prst="roundRect">
            <a:avLst>
              <a:gd name="adj" fmla="val 10435"/>
            </a:avLst>
          </a:prstGeom>
          <a:solidFill>
            <a:srgbClr val="12213D"/>
          </a:solidFill>
          <a:ln w="15875">
            <a:solidFill>
              <a:srgbClr val="2F80ED"/>
            </a:solidFill>
            <a:prstDash val="solid"/>
          </a:ln>
        </p:spPr>
      </p:sp>
      <p:pic>
        <p:nvPicPr>
          <p:cNvPr id="11" name="Image 1" descr="preencoded.png"/>
          <p:cNvPicPr>
            <a:picLocks noChangeAspect="1"/>
          </p:cNvPicPr>
          <p:nvPr/>
        </p:nvPicPr>
        <p:blipFill>
          <a:blip r:embed="rId4"/>
          <a:stretch>
            <a:fillRect/>
          </a:stretch>
        </p:blipFill>
        <p:spPr>
          <a:xfrm>
            <a:off x="3703320" y="1600200"/>
            <a:ext cx="411480" cy="411480"/>
          </a:xfrm>
          <a:prstGeom prst="rect">
            <a:avLst/>
          </a:prstGeom>
        </p:spPr>
      </p:pic>
      <p:sp>
        <p:nvSpPr>
          <p:cNvPr id="12" name="Text 7"/>
          <p:cNvSpPr txBox="1"/>
          <p:nvPr/>
        </p:nvSpPr>
        <p:spPr>
          <a:xfrm>
            <a:off x="4206240" y="150876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Frontend</a:t>
            </a:r>
            <a:endParaRPr lang="en-US" sz="1500" dirty="0"/>
          </a:p>
        </p:txBody>
      </p:sp>
      <p:sp>
        <p:nvSpPr>
          <p:cNvPr id="13" name="Text 8"/>
          <p:cNvSpPr txBox="1"/>
          <p:nvPr/>
        </p:nvSpPr>
        <p:spPr>
          <a:xfrm>
            <a:off x="3703320" y="2103120"/>
            <a:ext cx="2011680" cy="320040"/>
          </a:xfrm>
          <a:prstGeom prst="rect">
            <a:avLst/>
          </a:prstGeom>
          <a:noFill/>
          <a:ln/>
        </p:spPr>
        <p:txBody>
          <a:bodyPr wrap="square" lIns="0" tIns="0" rIns="0" bIns="0" rtlCol="0" anchor="ctr"/>
          <a:lstStyle/>
          <a:p>
            <a:pPr marL="0" indent="0">
              <a:buNone/>
            </a:pPr>
            <a:r>
              <a:rPr lang="en-US" sz="1100" dirty="0">
                <a:solidFill>
                  <a:srgbClr val="A9B8D4"/>
                </a:solidFill>
              </a:rPr>
              <a:t>Web interface</a:t>
            </a:r>
            <a:endParaRPr lang="en-US" sz="1100" dirty="0"/>
          </a:p>
        </p:txBody>
      </p:sp>
      <p:sp>
        <p:nvSpPr>
          <p:cNvPr id="14" name="Shape 9"/>
          <p:cNvSpPr/>
          <p:nvPr/>
        </p:nvSpPr>
        <p:spPr>
          <a:xfrm>
            <a:off x="3438144" y="1289304"/>
            <a:ext cx="347472" cy="347472"/>
          </a:xfrm>
          <a:prstGeom prst="ellipse">
            <a:avLst/>
          </a:prstGeom>
          <a:solidFill>
            <a:srgbClr val="00E5FF"/>
          </a:solidFill>
          <a:ln w="12700">
            <a:solidFill>
              <a:srgbClr val="0B1426"/>
            </a:solidFill>
            <a:prstDash val="solid"/>
          </a:ln>
        </p:spPr>
      </p:sp>
      <p:sp>
        <p:nvSpPr>
          <p:cNvPr id="15" name="Text 10"/>
          <p:cNvSpPr txBox="1"/>
          <p:nvPr/>
        </p:nvSpPr>
        <p:spPr>
          <a:xfrm>
            <a:off x="3438144" y="128930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2</a:t>
            </a:r>
            <a:endParaRPr lang="en-US" sz="1200" dirty="0"/>
          </a:p>
        </p:txBody>
      </p:sp>
      <p:sp>
        <p:nvSpPr>
          <p:cNvPr id="16" name="Shape 11"/>
          <p:cNvSpPr/>
          <p:nvPr/>
        </p:nvSpPr>
        <p:spPr>
          <a:xfrm>
            <a:off x="6492240" y="1417320"/>
            <a:ext cx="2286000" cy="1051560"/>
          </a:xfrm>
          <a:prstGeom prst="roundRect">
            <a:avLst>
              <a:gd name="adj" fmla="val 10435"/>
            </a:avLst>
          </a:prstGeom>
          <a:solidFill>
            <a:srgbClr val="1B3A66"/>
          </a:solidFill>
          <a:ln w="25400">
            <a:solidFill>
              <a:srgbClr val="00E5FF"/>
            </a:solidFill>
            <a:prstDash val="solid"/>
          </a:ln>
        </p:spPr>
      </p:sp>
      <p:pic>
        <p:nvPicPr>
          <p:cNvPr id="17" name="Image 2" descr="preencoded.png"/>
          <p:cNvPicPr>
            <a:picLocks noChangeAspect="1"/>
          </p:cNvPicPr>
          <p:nvPr/>
        </p:nvPicPr>
        <p:blipFill>
          <a:blip r:embed="rId5"/>
          <a:stretch>
            <a:fillRect/>
          </a:stretch>
        </p:blipFill>
        <p:spPr>
          <a:xfrm>
            <a:off x="6629400" y="1600200"/>
            <a:ext cx="411480" cy="411480"/>
          </a:xfrm>
          <a:prstGeom prst="rect">
            <a:avLst/>
          </a:prstGeom>
        </p:spPr>
      </p:pic>
      <p:sp>
        <p:nvSpPr>
          <p:cNvPr id="18" name="Text 12"/>
          <p:cNvSpPr txBox="1"/>
          <p:nvPr/>
        </p:nvSpPr>
        <p:spPr>
          <a:xfrm>
            <a:off x="7132320" y="150876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FastAPI Backend</a:t>
            </a:r>
            <a:endParaRPr lang="en-US" sz="1500" dirty="0"/>
          </a:p>
        </p:txBody>
      </p:sp>
      <p:sp>
        <p:nvSpPr>
          <p:cNvPr id="19" name="Text 13"/>
          <p:cNvSpPr txBox="1"/>
          <p:nvPr/>
        </p:nvSpPr>
        <p:spPr>
          <a:xfrm>
            <a:off x="6629400" y="2103120"/>
            <a:ext cx="2011680" cy="320040"/>
          </a:xfrm>
          <a:prstGeom prst="rect">
            <a:avLst/>
          </a:prstGeom>
          <a:noFill/>
          <a:ln/>
        </p:spPr>
        <p:txBody>
          <a:bodyPr wrap="square" lIns="0" tIns="0" rIns="0" bIns="0" rtlCol="0" anchor="ctr"/>
          <a:lstStyle/>
          <a:p>
            <a:pPr marL="0" indent="0">
              <a:buNone/>
            </a:pPr>
            <a:r>
              <a:rPr lang="en-US" sz="1100" dirty="0">
                <a:solidFill>
                  <a:srgbClr val="A9B8D4"/>
                </a:solidFill>
              </a:rPr>
              <a:t>Orchestrates pipeline</a:t>
            </a:r>
            <a:endParaRPr lang="en-US" sz="1100" dirty="0"/>
          </a:p>
        </p:txBody>
      </p:sp>
      <p:sp>
        <p:nvSpPr>
          <p:cNvPr id="20" name="Shape 14"/>
          <p:cNvSpPr/>
          <p:nvPr/>
        </p:nvSpPr>
        <p:spPr>
          <a:xfrm>
            <a:off x="6364224" y="1289304"/>
            <a:ext cx="347472" cy="347472"/>
          </a:xfrm>
          <a:prstGeom prst="ellipse">
            <a:avLst/>
          </a:prstGeom>
          <a:solidFill>
            <a:srgbClr val="00E5FF"/>
          </a:solidFill>
          <a:ln w="12700">
            <a:solidFill>
              <a:srgbClr val="0B1426"/>
            </a:solidFill>
            <a:prstDash val="solid"/>
          </a:ln>
        </p:spPr>
      </p:sp>
      <p:sp>
        <p:nvSpPr>
          <p:cNvPr id="21" name="Text 15"/>
          <p:cNvSpPr txBox="1"/>
          <p:nvPr/>
        </p:nvSpPr>
        <p:spPr>
          <a:xfrm>
            <a:off x="6364224" y="128930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3</a:t>
            </a:r>
            <a:endParaRPr lang="en-US" sz="1200" dirty="0"/>
          </a:p>
        </p:txBody>
      </p:sp>
      <p:sp>
        <p:nvSpPr>
          <p:cNvPr id="22" name="Shape 16"/>
          <p:cNvSpPr/>
          <p:nvPr/>
        </p:nvSpPr>
        <p:spPr>
          <a:xfrm>
            <a:off x="9418320" y="1417320"/>
            <a:ext cx="2286000" cy="1051560"/>
          </a:xfrm>
          <a:prstGeom prst="roundRect">
            <a:avLst>
              <a:gd name="adj" fmla="val 10435"/>
            </a:avLst>
          </a:prstGeom>
          <a:solidFill>
            <a:srgbClr val="12213D"/>
          </a:solidFill>
          <a:ln w="15875">
            <a:solidFill>
              <a:srgbClr val="2F80ED"/>
            </a:solidFill>
            <a:prstDash val="solid"/>
          </a:ln>
        </p:spPr>
      </p:sp>
      <p:pic>
        <p:nvPicPr>
          <p:cNvPr id="23" name="Image 3" descr="preencoded.png"/>
          <p:cNvPicPr>
            <a:picLocks noChangeAspect="1"/>
          </p:cNvPicPr>
          <p:nvPr/>
        </p:nvPicPr>
        <p:blipFill>
          <a:blip r:embed="rId6"/>
          <a:stretch>
            <a:fillRect/>
          </a:stretch>
        </p:blipFill>
        <p:spPr>
          <a:xfrm>
            <a:off x="9555480" y="1600200"/>
            <a:ext cx="411480" cy="411480"/>
          </a:xfrm>
          <a:prstGeom prst="rect">
            <a:avLst/>
          </a:prstGeom>
        </p:spPr>
      </p:pic>
      <p:sp>
        <p:nvSpPr>
          <p:cNvPr id="24" name="Text 17"/>
          <p:cNvSpPr txBox="1"/>
          <p:nvPr/>
        </p:nvSpPr>
        <p:spPr>
          <a:xfrm>
            <a:off x="10058400" y="150876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GitHub API</a:t>
            </a:r>
            <a:endParaRPr lang="en-US" sz="1500" dirty="0"/>
          </a:p>
        </p:txBody>
      </p:sp>
      <p:sp>
        <p:nvSpPr>
          <p:cNvPr id="25" name="Text 18"/>
          <p:cNvSpPr txBox="1"/>
          <p:nvPr/>
        </p:nvSpPr>
        <p:spPr>
          <a:xfrm>
            <a:off x="9555480" y="2103120"/>
            <a:ext cx="2011680" cy="320040"/>
          </a:xfrm>
          <a:prstGeom prst="rect">
            <a:avLst/>
          </a:prstGeom>
          <a:noFill/>
          <a:ln/>
        </p:spPr>
        <p:txBody>
          <a:bodyPr wrap="square" lIns="0" tIns="0" rIns="0" bIns="0" rtlCol="0" anchor="ctr"/>
          <a:lstStyle/>
          <a:p>
            <a:pPr marL="0" indent="0">
              <a:buNone/>
            </a:pPr>
            <a:r>
              <a:rPr lang="en-US" sz="1100" dirty="0">
                <a:solidFill>
                  <a:srgbClr val="A9B8D4"/>
                </a:solidFill>
              </a:rPr>
              <a:t>Fetches repo files</a:t>
            </a:r>
            <a:endParaRPr lang="en-US" sz="1100" dirty="0"/>
          </a:p>
        </p:txBody>
      </p:sp>
      <p:sp>
        <p:nvSpPr>
          <p:cNvPr id="26" name="Shape 19"/>
          <p:cNvSpPr/>
          <p:nvPr/>
        </p:nvSpPr>
        <p:spPr>
          <a:xfrm>
            <a:off x="9290304" y="1289304"/>
            <a:ext cx="347472" cy="347472"/>
          </a:xfrm>
          <a:prstGeom prst="ellipse">
            <a:avLst/>
          </a:prstGeom>
          <a:solidFill>
            <a:srgbClr val="00E5FF"/>
          </a:solidFill>
          <a:ln w="12700">
            <a:solidFill>
              <a:srgbClr val="0B1426"/>
            </a:solidFill>
            <a:prstDash val="solid"/>
          </a:ln>
        </p:spPr>
      </p:sp>
      <p:sp>
        <p:nvSpPr>
          <p:cNvPr id="27" name="Text 20"/>
          <p:cNvSpPr txBox="1"/>
          <p:nvPr/>
        </p:nvSpPr>
        <p:spPr>
          <a:xfrm>
            <a:off x="9290304" y="128930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3</a:t>
            </a:r>
            <a:endParaRPr lang="en-US" sz="1200" dirty="0"/>
          </a:p>
        </p:txBody>
      </p:sp>
      <p:sp>
        <p:nvSpPr>
          <p:cNvPr id="28" name="Shape 21"/>
          <p:cNvSpPr/>
          <p:nvPr/>
        </p:nvSpPr>
        <p:spPr>
          <a:xfrm>
            <a:off x="640080" y="3794760"/>
            <a:ext cx="2286000" cy="1051560"/>
          </a:xfrm>
          <a:prstGeom prst="roundRect">
            <a:avLst>
              <a:gd name="adj" fmla="val 10435"/>
            </a:avLst>
          </a:prstGeom>
          <a:solidFill>
            <a:srgbClr val="12213D"/>
          </a:solidFill>
          <a:ln w="15875">
            <a:solidFill>
              <a:srgbClr val="2F80ED"/>
            </a:solidFill>
            <a:prstDash val="solid"/>
          </a:ln>
        </p:spPr>
      </p:sp>
      <p:pic>
        <p:nvPicPr>
          <p:cNvPr id="29" name="Image 4" descr="preencoded.png"/>
          <p:cNvPicPr>
            <a:picLocks noChangeAspect="1"/>
          </p:cNvPicPr>
          <p:nvPr/>
        </p:nvPicPr>
        <p:blipFill>
          <a:blip r:embed="rId7"/>
          <a:stretch>
            <a:fillRect/>
          </a:stretch>
        </p:blipFill>
        <p:spPr>
          <a:xfrm>
            <a:off x="777240" y="3977640"/>
            <a:ext cx="411480" cy="411480"/>
          </a:xfrm>
          <a:prstGeom prst="rect">
            <a:avLst/>
          </a:prstGeom>
        </p:spPr>
      </p:pic>
      <p:sp>
        <p:nvSpPr>
          <p:cNvPr id="30" name="Text 22"/>
          <p:cNvSpPr txBox="1"/>
          <p:nvPr/>
        </p:nvSpPr>
        <p:spPr>
          <a:xfrm>
            <a:off x="1280160" y="388620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Tree-sitter</a:t>
            </a:r>
            <a:endParaRPr lang="en-US" sz="1500" dirty="0"/>
          </a:p>
        </p:txBody>
      </p:sp>
      <p:sp>
        <p:nvSpPr>
          <p:cNvPr id="31" name="Text 23"/>
          <p:cNvSpPr txBox="1"/>
          <p:nvPr/>
        </p:nvSpPr>
        <p:spPr>
          <a:xfrm>
            <a:off x="777240" y="4480560"/>
            <a:ext cx="2011680" cy="320040"/>
          </a:xfrm>
          <a:prstGeom prst="rect">
            <a:avLst/>
          </a:prstGeom>
          <a:noFill/>
          <a:ln/>
        </p:spPr>
        <p:txBody>
          <a:bodyPr wrap="square" lIns="0" tIns="0" rIns="0" bIns="0" rtlCol="0" anchor="ctr"/>
          <a:lstStyle/>
          <a:p>
            <a:pPr marL="0" indent="0">
              <a:buNone/>
            </a:pPr>
            <a:r>
              <a:rPr lang="en-US" sz="1100" dirty="0">
                <a:solidFill>
                  <a:srgbClr val="A9B8D4"/>
                </a:solidFill>
              </a:rPr>
              <a:t>Parses code (AST)</a:t>
            </a:r>
            <a:endParaRPr lang="en-US" sz="1100" dirty="0"/>
          </a:p>
        </p:txBody>
      </p:sp>
      <p:sp>
        <p:nvSpPr>
          <p:cNvPr id="32" name="Shape 24"/>
          <p:cNvSpPr/>
          <p:nvPr/>
        </p:nvSpPr>
        <p:spPr>
          <a:xfrm>
            <a:off x="512064" y="3666744"/>
            <a:ext cx="347472" cy="347472"/>
          </a:xfrm>
          <a:prstGeom prst="ellipse">
            <a:avLst/>
          </a:prstGeom>
          <a:solidFill>
            <a:srgbClr val="00E5FF"/>
          </a:solidFill>
          <a:ln w="12700">
            <a:solidFill>
              <a:srgbClr val="0B1426"/>
            </a:solidFill>
            <a:prstDash val="solid"/>
          </a:ln>
        </p:spPr>
      </p:sp>
      <p:sp>
        <p:nvSpPr>
          <p:cNvPr id="33" name="Text 25"/>
          <p:cNvSpPr txBox="1"/>
          <p:nvPr/>
        </p:nvSpPr>
        <p:spPr>
          <a:xfrm>
            <a:off x="512064" y="366674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4</a:t>
            </a:r>
            <a:endParaRPr lang="en-US" sz="1200" dirty="0"/>
          </a:p>
        </p:txBody>
      </p:sp>
      <p:sp>
        <p:nvSpPr>
          <p:cNvPr id="34" name="Shape 26"/>
          <p:cNvSpPr/>
          <p:nvPr/>
        </p:nvSpPr>
        <p:spPr>
          <a:xfrm>
            <a:off x="3566160" y="3794760"/>
            <a:ext cx="2286000" cy="1051560"/>
          </a:xfrm>
          <a:prstGeom prst="roundRect">
            <a:avLst>
              <a:gd name="adj" fmla="val 10435"/>
            </a:avLst>
          </a:prstGeom>
          <a:solidFill>
            <a:srgbClr val="12213D"/>
          </a:solidFill>
          <a:ln w="15875">
            <a:solidFill>
              <a:srgbClr val="2F80ED"/>
            </a:solidFill>
            <a:prstDash val="solid"/>
          </a:ln>
        </p:spPr>
      </p:sp>
      <p:pic>
        <p:nvPicPr>
          <p:cNvPr id="35" name="Image 5" descr="preencoded.png"/>
          <p:cNvPicPr>
            <a:picLocks noChangeAspect="1"/>
          </p:cNvPicPr>
          <p:nvPr/>
        </p:nvPicPr>
        <p:blipFill>
          <a:blip r:embed="rId8"/>
          <a:stretch>
            <a:fillRect/>
          </a:stretch>
        </p:blipFill>
        <p:spPr>
          <a:xfrm>
            <a:off x="3703320" y="3977640"/>
            <a:ext cx="411480" cy="411480"/>
          </a:xfrm>
          <a:prstGeom prst="rect">
            <a:avLst/>
          </a:prstGeom>
        </p:spPr>
      </p:pic>
      <p:sp>
        <p:nvSpPr>
          <p:cNvPr id="36" name="Text 27"/>
          <p:cNvSpPr txBox="1"/>
          <p:nvPr/>
        </p:nvSpPr>
        <p:spPr>
          <a:xfrm>
            <a:off x="4206240" y="388620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Embedding Model</a:t>
            </a:r>
            <a:endParaRPr lang="en-US" sz="1500" dirty="0"/>
          </a:p>
        </p:txBody>
      </p:sp>
      <p:sp>
        <p:nvSpPr>
          <p:cNvPr id="37" name="Text 28"/>
          <p:cNvSpPr txBox="1"/>
          <p:nvPr/>
        </p:nvSpPr>
        <p:spPr>
          <a:xfrm>
            <a:off x="3703320" y="4480560"/>
            <a:ext cx="2011680" cy="320040"/>
          </a:xfrm>
          <a:prstGeom prst="rect">
            <a:avLst/>
          </a:prstGeom>
          <a:noFill/>
          <a:ln/>
        </p:spPr>
        <p:txBody>
          <a:bodyPr wrap="square" lIns="0" tIns="0" rIns="0" bIns="0" rtlCol="0" anchor="ctr"/>
          <a:lstStyle/>
          <a:p>
            <a:pPr marL="0" indent="0">
              <a:buNone/>
            </a:pPr>
            <a:r>
              <a:rPr lang="en-US" sz="1100" dirty="0">
                <a:solidFill>
                  <a:srgbClr val="A9B8D4"/>
                </a:solidFill>
              </a:rPr>
              <a:t>Code → vectors</a:t>
            </a:r>
            <a:endParaRPr lang="en-US" sz="1100" dirty="0"/>
          </a:p>
        </p:txBody>
      </p:sp>
      <p:sp>
        <p:nvSpPr>
          <p:cNvPr id="38" name="Shape 29"/>
          <p:cNvSpPr/>
          <p:nvPr/>
        </p:nvSpPr>
        <p:spPr>
          <a:xfrm>
            <a:off x="3438144" y="3666744"/>
            <a:ext cx="347472" cy="347472"/>
          </a:xfrm>
          <a:prstGeom prst="ellipse">
            <a:avLst/>
          </a:prstGeom>
          <a:solidFill>
            <a:srgbClr val="00E5FF"/>
          </a:solidFill>
          <a:ln w="12700">
            <a:solidFill>
              <a:srgbClr val="0B1426"/>
            </a:solidFill>
            <a:prstDash val="solid"/>
          </a:ln>
        </p:spPr>
      </p:sp>
      <p:sp>
        <p:nvSpPr>
          <p:cNvPr id="39" name="Text 30"/>
          <p:cNvSpPr txBox="1"/>
          <p:nvPr/>
        </p:nvSpPr>
        <p:spPr>
          <a:xfrm>
            <a:off x="3438144" y="366674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5</a:t>
            </a:r>
            <a:endParaRPr lang="en-US" sz="1200" dirty="0"/>
          </a:p>
        </p:txBody>
      </p:sp>
      <p:sp>
        <p:nvSpPr>
          <p:cNvPr id="40" name="Shape 31"/>
          <p:cNvSpPr/>
          <p:nvPr/>
        </p:nvSpPr>
        <p:spPr>
          <a:xfrm>
            <a:off x="6492240" y="3794760"/>
            <a:ext cx="2286000" cy="1051560"/>
          </a:xfrm>
          <a:prstGeom prst="roundRect">
            <a:avLst>
              <a:gd name="adj" fmla="val 10435"/>
            </a:avLst>
          </a:prstGeom>
          <a:solidFill>
            <a:srgbClr val="1B3A66"/>
          </a:solidFill>
          <a:ln w="25400">
            <a:solidFill>
              <a:srgbClr val="00E5FF"/>
            </a:solidFill>
            <a:prstDash val="solid"/>
          </a:ln>
        </p:spPr>
      </p:sp>
      <p:pic>
        <p:nvPicPr>
          <p:cNvPr id="41" name="Image 6" descr="preencoded.png"/>
          <p:cNvPicPr>
            <a:picLocks noChangeAspect="1"/>
          </p:cNvPicPr>
          <p:nvPr/>
        </p:nvPicPr>
        <p:blipFill>
          <a:blip r:embed="rId9"/>
          <a:stretch>
            <a:fillRect/>
          </a:stretch>
        </p:blipFill>
        <p:spPr>
          <a:xfrm>
            <a:off x="6629400" y="3977640"/>
            <a:ext cx="411480" cy="411480"/>
          </a:xfrm>
          <a:prstGeom prst="rect">
            <a:avLst/>
          </a:prstGeom>
        </p:spPr>
      </p:pic>
      <p:sp>
        <p:nvSpPr>
          <p:cNvPr id="42" name="Text 32"/>
          <p:cNvSpPr txBox="1"/>
          <p:nvPr/>
        </p:nvSpPr>
        <p:spPr>
          <a:xfrm>
            <a:off x="7132320" y="388620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LLM</a:t>
            </a:r>
            <a:endParaRPr lang="en-US" sz="1500" dirty="0"/>
          </a:p>
        </p:txBody>
      </p:sp>
      <p:sp>
        <p:nvSpPr>
          <p:cNvPr id="43" name="Text 33"/>
          <p:cNvSpPr txBox="1"/>
          <p:nvPr/>
        </p:nvSpPr>
        <p:spPr>
          <a:xfrm>
            <a:off x="6629400" y="4480560"/>
            <a:ext cx="2011680" cy="320040"/>
          </a:xfrm>
          <a:prstGeom prst="rect">
            <a:avLst/>
          </a:prstGeom>
          <a:noFill/>
          <a:ln/>
        </p:spPr>
        <p:txBody>
          <a:bodyPr wrap="square" lIns="0" tIns="0" rIns="0" bIns="0" rtlCol="0" anchor="ctr"/>
          <a:lstStyle/>
          <a:p>
            <a:pPr marL="0" indent="0">
              <a:buNone/>
            </a:pPr>
            <a:r>
              <a:rPr lang="en-US" sz="1100" dirty="0">
                <a:solidFill>
                  <a:srgbClr val="A9B8D4"/>
                </a:solidFill>
              </a:rPr>
              <a:t>Explains risk, suggests fix</a:t>
            </a:r>
            <a:endParaRPr lang="en-US" sz="1100" dirty="0"/>
          </a:p>
        </p:txBody>
      </p:sp>
      <p:sp>
        <p:nvSpPr>
          <p:cNvPr id="44" name="Shape 34"/>
          <p:cNvSpPr/>
          <p:nvPr/>
        </p:nvSpPr>
        <p:spPr>
          <a:xfrm>
            <a:off x="6364224" y="3666744"/>
            <a:ext cx="347472" cy="347472"/>
          </a:xfrm>
          <a:prstGeom prst="ellipse">
            <a:avLst/>
          </a:prstGeom>
          <a:solidFill>
            <a:srgbClr val="00E5FF"/>
          </a:solidFill>
          <a:ln w="12700">
            <a:solidFill>
              <a:srgbClr val="0B1426"/>
            </a:solidFill>
            <a:prstDash val="solid"/>
          </a:ln>
        </p:spPr>
      </p:sp>
      <p:sp>
        <p:nvSpPr>
          <p:cNvPr id="45" name="Text 35"/>
          <p:cNvSpPr txBox="1"/>
          <p:nvPr/>
        </p:nvSpPr>
        <p:spPr>
          <a:xfrm>
            <a:off x="6364224" y="366674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6</a:t>
            </a:r>
            <a:endParaRPr lang="en-US" sz="1200" dirty="0"/>
          </a:p>
        </p:txBody>
      </p:sp>
      <p:sp>
        <p:nvSpPr>
          <p:cNvPr id="46" name="Shape 36"/>
          <p:cNvSpPr/>
          <p:nvPr/>
        </p:nvSpPr>
        <p:spPr>
          <a:xfrm>
            <a:off x="9418320" y="3794760"/>
            <a:ext cx="2286000" cy="1051560"/>
          </a:xfrm>
          <a:prstGeom prst="roundRect">
            <a:avLst>
              <a:gd name="adj" fmla="val 10435"/>
            </a:avLst>
          </a:prstGeom>
          <a:solidFill>
            <a:srgbClr val="12213D"/>
          </a:solidFill>
          <a:ln w="15875">
            <a:solidFill>
              <a:srgbClr val="2F80ED"/>
            </a:solidFill>
            <a:prstDash val="solid"/>
          </a:ln>
        </p:spPr>
      </p:sp>
      <p:pic>
        <p:nvPicPr>
          <p:cNvPr id="47" name="Image 7" descr="preencoded.png"/>
          <p:cNvPicPr>
            <a:picLocks noChangeAspect="1"/>
          </p:cNvPicPr>
          <p:nvPr/>
        </p:nvPicPr>
        <p:blipFill>
          <a:blip r:embed="rId10"/>
          <a:stretch>
            <a:fillRect/>
          </a:stretch>
        </p:blipFill>
        <p:spPr>
          <a:xfrm>
            <a:off x="9555480" y="3977640"/>
            <a:ext cx="411480" cy="411480"/>
          </a:xfrm>
          <a:prstGeom prst="rect">
            <a:avLst/>
          </a:prstGeom>
        </p:spPr>
      </p:pic>
      <p:sp>
        <p:nvSpPr>
          <p:cNvPr id="48" name="Text 37"/>
          <p:cNvSpPr txBox="1"/>
          <p:nvPr/>
        </p:nvSpPr>
        <p:spPr>
          <a:xfrm>
            <a:off x="10058400" y="3886200"/>
            <a:ext cx="1554480" cy="594360"/>
          </a:xfrm>
          <a:prstGeom prst="rect">
            <a:avLst/>
          </a:prstGeom>
          <a:noFill/>
          <a:ln/>
        </p:spPr>
        <p:txBody>
          <a:bodyPr wrap="square" lIns="0" tIns="0" rIns="0" bIns="0" rtlCol="0" anchor="ctr"/>
          <a:lstStyle/>
          <a:p>
            <a:pPr marL="0" indent="0">
              <a:buNone/>
            </a:pPr>
            <a:r>
              <a:rPr lang="en-US" sz="1500" b="1" dirty="0">
                <a:solidFill>
                  <a:srgbClr val="FFFFFF"/>
                </a:solidFill>
              </a:rPr>
              <a:t>Analysis Results</a:t>
            </a:r>
            <a:endParaRPr lang="en-US" sz="1500" dirty="0"/>
          </a:p>
        </p:txBody>
      </p:sp>
      <p:sp>
        <p:nvSpPr>
          <p:cNvPr id="49" name="Text 38"/>
          <p:cNvSpPr txBox="1"/>
          <p:nvPr/>
        </p:nvSpPr>
        <p:spPr>
          <a:xfrm>
            <a:off x="9555480" y="4480560"/>
            <a:ext cx="2011680" cy="320040"/>
          </a:xfrm>
          <a:prstGeom prst="rect">
            <a:avLst/>
          </a:prstGeom>
          <a:noFill/>
          <a:ln/>
        </p:spPr>
        <p:txBody>
          <a:bodyPr wrap="square" lIns="0" tIns="0" rIns="0" bIns="0" rtlCol="0" anchor="ctr"/>
          <a:lstStyle/>
          <a:p>
            <a:pPr marL="0" indent="0">
              <a:buNone/>
            </a:pPr>
            <a:r>
              <a:rPr lang="en-US" sz="1100" dirty="0">
                <a:solidFill>
                  <a:srgbClr val="A9B8D4"/>
                </a:solidFill>
              </a:rPr>
              <a:t>Findings + fixes</a:t>
            </a:r>
            <a:endParaRPr lang="en-US" sz="1100" dirty="0"/>
          </a:p>
        </p:txBody>
      </p:sp>
      <p:sp>
        <p:nvSpPr>
          <p:cNvPr id="50" name="Shape 39"/>
          <p:cNvSpPr/>
          <p:nvPr/>
        </p:nvSpPr>
        <p:spPr>
          <a:xfrm>
            <a:off x="9290304" y="3666744"/>
            <a:ext cx="347472" cy="347472"/>
          </a:xfrm>
          <a:prstGeom prst="ellipse">
            <a:avLst/>
          </a:prstGeom>
          <a:solidFill>
            <a:srgbClr val="00E5FF"/>
          </a:solidFill>
          <a:ln w="12700">
            <a:solidFill>
              <a:srgbClr val="0B1426"/>
            </a:solidFill>
            <a:prstDash val="solid"/>
          </a:ln>
        </p:spPr>
      </p:sp>
      <p:sp>
        <p:nvSpPr>
          <p:cNvPr id="51" name="Text 40"/>
          <p:cNvSpPr txBox="1"/>
          <p:nvPr/>
        </p:nvSpPr>
        <p:spPr>
          <a:xfrm>
            <a:off x="9290304" y="3666744"/>
            <a:ext cx="347472" cy="347472"/>
          </a:xfrm>
          <a:prstGeom prst="rect">
            <a:avLst/>
          </a:prstGeom>
          <a:noFill/>
          <a:ln/>
        </p:spPr>
        <p:txBody>
          <a:bodyPr wrap="square" lIns="0" tIns="0" rIns="0" bIns="0" rtlCol="0" anchor="ctr"/>
          <a:lstStyle/>
          <a:p>
            <a:pPr marL="0" indent="0" algn="ctr">
              <a:buNone/>
            </a:pPr>
            <a:r>
              <a:rPr lang="en-US" sz="1200" b="1" dirty="0">
                <a:solidFill>
                  <a:srgbClr val="0B1426"/>
                </a:solidFill>
              </a:rPr>
              <a:t>7</a:t>
            </a:r>
            <a:endParaRPr lang="en-US" sz="1200" dirty="0"/>
          </a:p>
        </p:txBody>
      </p:sp>
      <p:sp>
        <p:nvSpPr>
          <p:cNvPr id="52" name="Shape 41"/>
          <p:cNvSpPr/>
          <p:nvPr/>
        </p:nvSpPr>
        <p:spPr>
          <a:xfrm>
            <a:off x="2926080" y="1943100"/>
            <a:ext cx="640080" cy="0"/>
          </a:xfrm>
          <a:prstGeom prst="line">
            <a:avLst/>
          </a:prstGeom>
          <a:noFill/>
          <a:ln w="25400">
            <a:solidFill>
              <a:srgbClr val="00E5FF"/>
            </a:solidFill>
            <a:prstDash val="solid"/>
            <a:tailEnd type="triangle"/>
          </a:ln>
        </p:spPr>
      </p:sp>
      <p:sp>
        <p:nvSpPr>
          <p:cNvPr id="53" name="Shape 42"/>
          <p:cNvSpPr/>
          <p:nvPr/>
        </p:nvSpPr>
        <p:spPr>
          <a:xfrm>
            <a:off x="5852160" y="1943100"/>
            <a:ext cx="640080" cy="0"/>
          </a:xfrm>
          <a:prstGeom prst="line">
            <a:avLst/>
          </a:prstGeom>
          <a:noFill/>
          <a:ln w="25400">
            <a:solidFill>
              <a:srgbClr val="00E5FF"/>
            </a:solidFill>
            <a:prstDash val="solid"/>
            <a:tailEnd type="triangle"/>
          </a:ln>
        </p:spPr>
      </p:sp>
      <p:sp>
        <p:nvSpPr>
          <p:cNvPr id="54" name="Shape 43"/>
          <p:cNvSpPr/>
          <p:nvPr/>
        </p:nvSpPr>
        <p:spPr>
          <a:xfrm>
            <a:off x="8778240" y="1943100"/>
            <a:ext cx="640080" cy="0"/>
          </a:xfrm>
          <a:prstGeom prst="line">
            <a:avLst/>
          </a:prstGeom>
          <a:noFill/>
          <a:ln w="25400">
            <a:solidFill>
              <a:srgbClr val="00E5FF"/>
            </a:solidFill>
            <a:prstDash val="solid"/>
            <a:headEnd type="triangle"/>
            <a:tailEnd type="triangle"/>
          </a:ln>
        </p:spPr>
      </p:sp>
      <p:sp>
        <p:nvSpPr>
          <p:cNvPr id="55" name="Shape 44"/>
          <p:cNvSpPr/>
          <p:nvPr/>
        </p:nvSpPr>
        <p:spPr>
          <a:xfrm>
            <a:off x="7635240" y="2468880"/>
            <a:ext cx="0" cy="640080"/>
          </a:xfrm>
          <a:prstGeom prst="line">
            <a:avLst/>
          </a:prstGeom>
          <a:noFill/>
          <a:ln w="25400">
            <a:solidFill>
              <a:srgbClr val="00E5FF"/>
            </a:solidFill>
            <a:prstDash val="solid"/>
          </a:ln>
        </p:spPr>
      </p:sp>
      <p:sp>
        <p:nvSpPr>
          <p:cNvPr id="56" name="Shape 45"/>
          <p:cNvSpPr/>
          <p:nvPr/>
        </p:nvSpPr>
        <p:spPr>
          <a:xfrm>
            <a:off x="1783080" y="3108960"/>
            <a:ext cx="5852160" cy="0"/>
          </a:xfrm>
          <a:prstGeom prst="line">
            <a:avLst/>
          </a:prstGeom>
          <a:noFill/>
          <a:ln w="25400">
            <a:solidFill>
              <a:srgbClr val="00E5FF"/>
            </a:solidFill>
            <a:prstDash val="solid"/>
          </a:ln>
        </p:spPr>
      </p:sp>
      <p:sp>
        <p:nvSpPr>
          <p:cNvPr id="57" name="Shape 46"/>
          <p:cNvSpPr/>
          <p:nvPr/>
        </p:nvSpPr>
        <p:spPr>
          <a:xfrm>
            <a:off x="1783080" y="3108960"/>
            <a:ext cx="0" cy="685800"/>
          </a:xfrm>
          <a:prstGeom prst="line">
            <a:avLst/>
          </a:prstGeom>
          <a:noFill/>
          <a:ln w="25400">
            <a:solidFill>
              <a:srgbClr val="00E5FF"/>
            </a:solidFill>
            <a:prstDash val="solid"/>
            <a:tailEnd type="triangle"/>
          </a:ln>
        </p:spPr>
      </p:sp>
      <p:sp>
        <p:nvSpPr>
          <p:cNvPr id="58" name="Text 47"/>
          <p:cNvSpPr txBox="1"/>
          <p:nvPr/>
        </p:nvSpPr>
        <p:spPr>
          <a:xfrm>
            <a:off x="3840480" y="3127248"/>
            <a:ext cx="2286000" cy="274320"/>
          </a:xfrm>
          <a:prstGeom prst="rect">
            <a:avLst/>
          </a:prstGeom>
          <a:noFill/>
          <a:ln/>
        </p:spPr>
        <p:txBody>
          <a:bodyPr wrap="square" lIns="0" tIns="0" rIns="0" bIns="0" rtlCol="0" anchor="ctr"/>
          <a:lstStyle/>
          <a:p>
            <a:pPr marL="0" indent="0">
              <a:buNone/>
            </a:pPr>
            <a:r>
              <a:rPr lang="en-US" sz="1100" i="1" dirty="0">
                <a:solidFill>
                  <a:srgbClr val="00E5FF"/>
                </a:solidFill>
              </a:rPr>
              <a:t>source files</a:t>
            </a:r>
            <a:endParaRPr lang="en-US" sz="1100" dirty="0"/>
          </a:p>
        </p:txBody>
      </p:sp>
      <p:sp>
        <p:nvSpPr>
          <p:cNvPr id="59" name="Shape 48"/>
          <p:cNvSpPr/>
          <p:nvPr/>
        </p:nvSpPr>
        <p:spPr>
          <a:xfrm>
            <a:off x="2926080" y="4320540"/>
            <a:ext cx="640080" cy="0"/>
          </a:xfrm>
          <a:prstGeom prst="line">
            <a:avLst/>
          </a:prstGeom>
          <a:noFill/>
          <a:ln w="25400">
            <a:solidFill>
              <a:srgbClr val="00E5FF"/>
            </a:solidFill>
            <a:prstDash val="solid"/>
            <a:tailEnd type="triangle"/>
          </a:ln>
        </p:spPr>
      </p:sp>
      <p:sp>
        <p:nvSpPr>
          <p:cNvPr id="60" name="Shape 49"/>
          <p:cNvSpPr/>
          <p:nvPr/>
        </p:nvSpPr>
        <p:spPr>
          <a:xfrm>
            <a:off x="5852160" y="4320540"/>
            <a:ext cx="640080" cy="0"/>
          </a:xfrm>
          <a:prstGeom prst="line">
            <a:avLst/>
          </a:prstGeom>
          <a:noFill/>
          <a:ln w="25400">
            <a:solidFill>
              <a:srgbClr val="00E5FF"/>
            </a:solidFill>
            <a:prstDash val="solid"/>
            <a:tailEnd type="triangle"/>
          </a:ln>
        </p:spPr>
      </p:sp>
      <p:sp>
        <p:nvSpPr>
          <p:cNvPr id="61" name="Shape 50"/>
          <p:cNvSpPr/>
          <p:nvPr/>
        </p:nvSpPr>
        <p:spPr>
          <a:xfrm>
            <a:off x="8778240" y="4320540"/>
            <a:ext cx="640080" cy="0"/>
          </a:xfrm>
          <a:prstGeom prst="line">
            <a:avLst/>
          </a:prstGeom>
          <a:noFill/>
          <a:ln w="25400">
            <a:solidFill>
              <a:srgbClr val="00E5FF"/>
            </a:solidFill>
            <a:prstDash val="solid"/>
            <a:tailEnd type="triangle"/>
          </a:ln>
        </p:spPr>
      </p:sp>
      <p:sp>
        <p:nvSpPr>
          <p:cNvPr id="62" name="Shape 51"/>
          <p:cNvSpPr/>
          <p:nvPr/>
        </p:nvSpPr>
        <p:spPr>
          <a:xfrm>
            <a:off x="6492240" y="5257800"/>
            <a:ext cx="2286000" cy="731520"/>
          </a:xfrm>
          <a:prstGeom prst="roundRect">
            <a:avLst>
              <a:gd name="adj" fmla="val 12500"/>
            </a:avLst>
          </a:prstGeom>
          <a:solidFill>
            <a:srgbClr val="12213D"/>
          </a:solidFill>
          <a:ln w="15875">
            <a:solidFill>
              <a:srgbClr val="39FF9C"/>
            </a:solidFill>
            <a:prstDash val="dash"/>
          </a:ln>
        </p:spPr>
      </p:sp>
      <p:sp>
        <p:nvSpPr>
          <p:cNvPr id="63" name="Text 52"/>
          <p:cNvSpPr txBox="1"/>
          <p:nvPr/>
        </p:nvSpPr>
        <p:spPr>
          <a:xfrm>
            <a:off x="6492240" y="5257800"/>
            <a:ext cx="2286000" cy="731520"/>
          </a:xfrm>
          <a:prstGeom prst="rect">
            <a:avLst/>
          </a:prstGeom>
          <a:noFill/>
          <a:ln/>
        </p:spPr>
        <p:txBody>
          <a:bodyPr wrap="square" lIns="0" tIns="0" rIns="0" bIns="0" rtlCol="0" anchor="ctr"/>
          <a:lstStyle/>
          <a:p>
            <a:pPr marL="0" indent="0" algn="ctr">
              <a:buNone/>
            </a:pPr>
            <a:r>
              <a:rPr lang="en-US" sz="1300" b="1" dirty="0">
                <a:solidFill>
                  <a:srgbClr val="FFFFFF"/>
                </a:solidFill>
              </a:rPr>
              <a:t>OWASP + CWE</a:t>
            </a:r>
            <a:endParaRPr lang="en-US" sz="1300" dirty="0"/>
          </a:p>
          <a:p>
            <a:pPr marL="0" indent="0" algn="ctr">
              <a:buNone/>
            </a:pPr>
            <a:r>
              <a:rPr lang="en-US" sz="1300" b="1" dirty="0">
                <a:solidFill>
                  <a:srgbClr val="FFFFFF"/>
                </a:solidFill>
              </a:rPr>
              <a:t>security guidelines</a:t>
            </a:r>
            <a:endParaRPr lang="en-US" sz="1300" dirty="0"/>
          </a:p>
        </p:txBody>
      </p:sp>
      <p:sp>
        <p:nvSpPr>
          <p:cNvPr id="64" name="Shape 53"/>
          <p:cNvSpPr/>
          <p:nvPr/>
        </p:nvSpPr>
        <p:spPr>
          <a:xfrm>
            <a:off x="7635240" y="4846320"/>
            <a:ext cx="0" cy="411480"/>
          </a:xfrm>
          <a:prstGeom prst="line">
            <a:avLst/>
          </a:prstGeom>
          <a:noFill/>
          <a:ln w="25400">
            <a:solidFill>
              <a:srgbClr val="00E5FF"/>
            </a:solidFill>
            <a:prstDash val="dash"/>
            <a:tailEnd type="triangle"/>
          </a:ln>
        </p:spPr>
      </p:sp>
      <p:sp>
        <p:nvSpPr>
          <p:cNvPr id="65" name="Text 54"/>
          <p:cNvSpPr txBox="1"/>
          <p:nvPr/>
        </p:nvSpPr>
        <p:spPr>
          <a:xfrm>
            <a:off x="640080" y="5349240"/>
            <a:ext cx="5486400" cy="548640"/>
          </a:xfrm>
          <a:prstGeom prst="rect">
            <a:avLst/>
          </a:prstGeom>
          <a:noFill/>
          <a:ln/>
        </p:spPr>
        <p:txBody>
          <a:bodyPr wrap="square" lIns="0" tIns="0" rIns="0" bIns="0" rtlCol="0" anchor="ctr"/>
          <a:lstStyle/>
          <a:p>
            <a:pPr marL="0" indent="0">
              <a:buNone/>
            </a:pPr>
            <a:r>
              <a:rPr lang="en-US" sz="1400" i="1" dirty="0">
                <a:solidFill>
                  <a:srgbClr val="A9B8D4"/>
                </a:solidFill>
              </a:rPr>
              <a:t>Final report is returned to the user via the backend and frontend.</a:t>
            </a:r>
            <a:endParaRPr lang="en-US" sz="14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Technologies Used</a:t>
            </a:r>
            <a:endParaRPr lang="en-US" sz="3600" dirty="0"/>
          </a:p>
        </p:txBody>
      </p:sp>
      <p:sp>
        <p:nvSpPr>
          <p:cNvPr id="4" name="Shape 1"/>
          <p:cNvSpPr/>
          <p:nvPr/>
        </p:nvSpPr>
        <p:spPr>
          <a:xfrm>
            <a:off x="548640" y="1463040"/>
            <a:ext cx="2651760" cy="2103120"/>
          </a:xfrm>
          <a:prstGeom prst="roundRect">
            <a:avLst>
              <a:gd name="adj" fmla="val 5217"/>
            </a:avLst>
          </a:prstGeom>
          <a:solidFill>
            <a:srgbClr val="12213D"/>
          </a:solidFill>
          <a:ln w="12700">
            <a:solidFill>
              <a:srgbClr val="1B3A66"/>
            </a:solidFill>
            <a:prstDash val="solid"/>
          </a:ln>
        </p:spPr>
      </p:sp>
      <p:sp>
        <p:nvSpPr>
          <p:cNvPr id="5" name="Shape 2"/>
          <p:cNvSpPr/>
          <p:nvPr/>
        </p:nvSpPr>
        <p:spPr>
          <a:xfrm>
            <a:off x="731520" y="1691640"/>
            <a:ext cx="731520" cy="731520"/>
          </a:xfrm>
          <a:prstGeom prst="ellipse">
            <a:avLst/>
          </a:prstGeom>
          <a:solidFill>
            <a:srgbClr val="1B3A66"/>
          </a:solidFill>
          <a:ln w="12700">
            <a:solidFill>
              <a:srgbClr val="00E5FF"/>
            </a:solidFill>
            <a:prstDash val="solid"/>
          </a:ln>
        </p:spPr>
      </p:sp>
      <p:pic>
        <p:nvPicPr>
          <p:cNvPr id="6" name="Image 0" descr="preencoded.png"/>
          <p:cNvPicPr>
            <a:picLocks noChangeAspect="1"/>
          </p:cNvPicPr>
          <p:nvPr/>
        </p:nvPicPr>
        <p:blipFill>
          <a:blip r:embed="rId3"/>
          <a:stretch>
            <a:fillRect/>
          </a:stretch>
        </p:blipFill>
        <p:spPr>
          <a:xfrm>
            <a:off x="914400" y="1874520"/>
            <a:ext cx="365760" cy="365760"/>
          </a:xfrm>
          <a:prstGeom prst="rect">
            <a:avLst/>
          </a:prstGeom>
        </p:spPr>
      </p:pic>
      <p:sp>
        <p:nvSpPr>
          <p:cNvPr id="7" name="Text 3"/>
          <p:cNvSpPr txBox="1"/>
          <p:nvPr/>
        </p:nvSpPr>
        <p:spPr>
          <a:xfrm>
            <a:off x="731520" y="251460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Python</a:t>
            </a:r>
            <a:endParaRPr lang="en-US" sz="2000" dirty="0"/>
          </a:p>
        </p:txBody>
      </p:sp>
      <p:sp>
        <p:nvSpPr>
          <p:cNvPr id="8" name="Text 4"/>
          <p:cNvSpPr txBox="1"/>
          <p:nvPr/>
        </p:nvSpPr>
        <p:spPr>
          <a:xfrm>
            <a:off x="731520" y="2926080"/>
            <a:ext cx="2286000" cy="548640"/>
          </a:xfrm>
          <a:prstGeom prst="rect">
            <a:avLst/>
          </a:prstGeom>
          <a:noFill/>
          <a:ln/>
        </p:spPr>
        <p:txBody>
          <a:bodyPr wrap="square" lIns="0" tIns="0" rIns="0" bIns="0" rtlCol="0" anchor="t"/>
          <a:lstStyle/>
          <a:p>
            <a:pPr marL="0" indent="0">
              <a:buNone/>
            </a:pPr>
            <a:r>
              <a:rPr lang="en-US" sz="1400" dirty="0">
                <a:solidFill>
                  <a:srgbClr val="A9B8D4"/>
                </a:solidFill>
              </a:rPr>
              <a:t>Core language for the pipeline</a:t>
            </a:r>
            <a:endParaRPr lang="en-US" sz="1400" dirty="0"/>
          </a:p>
        </p:txBody>
      </p:sp>
      <p:sp>
        <p:nvSpPr>
          <p:cNvPr id="9" name="Shape 5"/>
          <p:cNvSpPr/>
          <p:nvPr/>
        </p:nvSpPr>
        <p:spPr>
          <a:xfrm>
            <a:off x="3383280" y="1463040"/>
            <a:ext cx="2651760" cy="2103120"/>
          </a:xfrm>
          <a:prstGeom prst="roundRect">
            <a:avLst>
              <a:gd name="adj" fmla="val 5217"/>
            </a:avLst>
          </a:prstGeom>
          <a:solidFill>
            <a:srgbClr val="12213D"/>
          </a:solidFill>
          <a:ln w="12700">
            <a:solidFill>
              <a:srgbClr val="1B3A66"/>
            </a:solidFill>
            <a:prstDash val="solid"/>
          </a:ln>
        </p:spPr>
      </p:sp>
      <p:sp>
        <p:nvSpPr>
          <p:cNvPr id="10" name="Shape 6"/>
          <p:cNvSpPr/>
          <p:nvPr/>
        </p:nvSpPr>
        <p:spPr>
          <a:xfrm>
            <a:off x="3566160" y="1691640"/>
            <a:ext cx="731520" cy="731520"/>
          </a:xfrm>
          <a:prstGeom prst="ellipse">
            <a:avLst/>
          </a:prstGeom>
          <a:solidFill>
            <a:srgbClr val="1B3A66"/>
          </a:solidFill>
          <a:ln w="12700">
            <a:solidFill>
              <a:srgbClr val="00E5FF"/>
            </a:solidFill>
            <a:prstDash val="solid"/>
          </a:ln>
        </p:spPr>
      </p:sp>
      <p:pic>
        <p:nvPicPr>
          <p:cNvPr id="11" name="Image 1" descr="preencoded.png"/>
          <p:cNvPicPr>
            <a:picLocks noChangeAspect="1"/>
          </p:cNvPicPr>
          <p:nvPr/>
        </p:nvPicPr>
        <p:blipFill>
          <a:blip r:embed="rId4"/>
          <a:stretch>
            <a:fillRect/>
          </a:stretch>
        </p:blipFill>
        <p:spPr>
          <a:xfrm>
            <a:off x="3749040" y="1874520"/>
            <a:ext cx="365760" cy="365760"/>
          </a:xfrm>
          <a:prstGeom prst="rect">
            <a:avLst/>
          </a:prstGeom>
        </p:spPr>
      </p:pic>
      <p:sp>
        <p:nvSpPr>
          <p:cNvPr id="12" name="Text 7"/>
          <p:cNvSpPr txBox="1"/>
          <p:nvPr/>
        </p:nvSpPr>
        <p:spPr>
          <a:xfrm>
            <a:off x="3566160" y="251460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FastAPI</a:t>
            </a:r>
            <a:endParaRPr lang="en-US" sz="2000" dirty="0"/>
          </a:p>
        </p:txBody>
      </p:sp>
      <p:sp>
        <p:nvSpPr>
          <p:cNvPr id="13" name="Text 8"/>
          <p:cNvSpPr txBox="1"/>
          <p:nvPr/>
        </p:nvSpPr>
        <p:spPr>
          <a:xfrm>
            <a:off x="3566160" y="2926080"/>
            <a:ext cx="2286000" cy="548640"/>
          </a:xfrm>
          <a:prstGeom prst="rect">
            <a:avLst/>
          </a:prstGeom>
          <a:noFill/>
          <a:ln/>
        </p:spPr>
        <p:txBody>
          <a:bodyPr wrap="square" lIns="0" tIns="0" rIns="0" bIns="0" rtlCol="0" anchor="t"/>
          <a:lstStyle/>
          <a:p>
            <a:pPr marL="0" indent="0">
              <a:buNone/>
            </a:pPr>
            <a:r>
              <a:rPr lang="en-US" sz="1400" dirty="0">
                <a:solidFill>
                  <a:srgbClr val="A9B8D4"/>
                </a:solidFill>
              </a:rPr>
              <a:t>Fast, modern Python web API</a:t>
            </a:r>
            <a:endParaRPr lang="en-US" sz="1400" dirty="0"/>
          </a:p>
        </p:txBody>
      </p:sp>
      <p:sp>
        <p:nvSpPr>
          <p:cNvPr id="14" name="Shape 9"/>
          <p:cNvSpPr/>
          <p:nvPr/>
        </p:nvSpPr>
        <p:spPr>
          <a:xfrm>
            <a:off x="6217920" y="1463040"/>
            <a:ext cx="2651760" cy="2103120"/>
          </a:xfrm>
          <a:prstGeom prst="roundRect">
            <a:avLst>
              <a:gd name="adj" fmla="val 5217"/>
            </a:avLst>
          </a:prstGeom>
          <a:solidFill>
            <a:srgbClr val="12213D"/>
          </a:solidFill>
          <a:ln w="12700">
            <a:solidFill>
              <a:srgbClr val="1B3A66"/>
            </a:solidFill>
            <a:prstDash val="solid"/>
          </a:ln>
        </p:spPr>
      </p:sp>
      <p:sp>
        <p:nvSpPr>
          <p:cNvPr id="15" name="Shape 10"/>
          <p:cNvSpPr/>
          <p:nvPr/>
        </p:nvSpPr>
        <p:spPr>
          <a:xfrm>
            <a:off x="6400800" y="1691640"/>
            <a:ext cx="731520" cy="731520"/>
          </a:xfrm>
          <a:prstGeom prst="ellipse">
            <a:avLst/>
          </a:prstGeom>
          <a:solidFill>
            <a:srgbClr val="1B3A66"/>
          </a:solidFill>
          <a:ln w="12700">
            <a:solidFill>
              <a:srgbClr val="00E5FF"/>
            </a:solidFill>
            <a:prstDash val="solid"/>
          </a:ln>
        </p:spPr>
      </p:sp>
      <p:pic>
        <p:nvPicPr>
          <p:cNvPr id="16" name="Image 2" descr="preencoded.png"/>
          <p:cNvPicPr>
            <a:picLocks noChangeAspect="1"/>
          </p:cNvPicPr>
          <p:nvPr/>
        </p:nvPicPr>
        <p:blipFill>
          <a:blip r:embed="rId5"/>
          <a:stretch>
            <a:fillRect/>
          </a:stretch>
        </p:blipFill>
        <p:spPr>
          <a:xfrm>
            <a:off x="6583680" y="1874520"/>
            <a:ext cx="365760" cy="365760"/>
          </a:xfrm>
          <a:prstGeom prst="rect">
            <a:avLst/>
          </a:prstGeom>
        </p:spPr>
      </p:pic>
      <p:sp>
        <p:nvSpPr>
          <p:cNvPr id="17" name="Text 11"/>
          <p:cNvSpPr txBox="1"/>
          <p:nvPr/>
        </p:nvSpPr>
        <p:spPr>
          <a:xfrm>
            <a:off x="6400800" y="251460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GitHub API</a:t>
            </a:r>
            <a:endParaRPr lang="en-US" sz="2000" dirty="0"/>
          </a:p>
        </p:txBody>
      </p:sp>
      <p:sp>
        <p:nvSpPr>
          <p:cNvPr id="18" name="Text 12"/>
          <p:cNvSpPr txBox="1"/>
          <p:nvPr/>
        </p:nvSpPr>
        <p:spPr>
          <a:xfrm>
            <a:off x="6400800" y="2926080"/>
            <a:ext cx="2286000" cy="548640"/>
          </a:xfrm>
          <a:prstGeom prst="rect">
            <a:avLst/>
          </a:prstGeom>
          <a:noFill/>
          <a:ln/>
        </p:spPr>
        <p:txBody>
          <a:bodyPr wrap="square" lIns="0" tIns="0" rIns="0" bIns="0" rtlCol="0" anchor="t"/>
          <a:lstStyle/>
          <a:p>
            <a:pPr marL="0" indent="0">
              <a:buNone/>
            </a:pPr>
            <a:r>
              <a:rPr lang="en-US" sz="1400" dirty="0">
                <a:solidFill>
                  <a:srgbClr val="A9B8D4"/>
                </a:solidFill>
              </a:rPr>
              <a:t>Fetch repositories and files</a:t>
            </a:r>
            <a:endParaRPr lang="en-US" sz="1400" dirty="0"/>
          </a:p>
        </p:txBody>
      </p:sp>
      <p:sp>
        <p:nvSpPr>
          <p:cNvPr id="19" name="Shape 13"/>
          <p:cNvSpPr/>
          <p:nvPr/>
        </p:nvSpPr>
        <p:spPr>
          <a:xfrm>
            <a:off x="9052560" y="1463040"/>
            <a:ext cx="2651760" cy="2103120"/>
          </a:xfrm>
          <a:prstGeom prst="roundRect">
            <a:avLst>
              <a:gd name="adj" fmla="val 5217"/>
            </a:avLst>
          </a:prstGeom>
          <a:solidFill>
            <a:srgbClr val="12213D"/>
          </a:solidFill>
          <a:ln w="12700">
            <a:solidFill>
              <a:srgbClr val="1B3A66"/>
            </a:solidFill>
            <a:prstDash val="solid"/>
          </a:ln>
        </p:spPr>
      </p:sp>
      <p:sp>
        <p:nvSpPr>
          <p:cNvPr id="20" name="Shape 14"/>
          <p:cNvSpPr/>
          <p:nvPr/>
        </p:nvSpPr>
        <p:spPr>
          <a:xfrm>
            <a:off x="9235440" y="1691640"/>
            <a:ext cx="731520" cy="731520"/>
          </a:xfrm>
          <a:prstGeom prst="ellipse">
            <a:avLst/>
          </a:prstGeom>
          <a:solidFill>
            <a:srgbClr val="1B3A66"/>
          </a:solidFill>
          <a:ln w="12700">
            <a:solidFill>
              <a:srgbClr val="00E5FF"/>
            </a:solidFill>
            <a:prstDash val="solid"/>
          </a:ln>
        </p:spPr>
      </p:sp>
      <p:pic>
        <p:nvPicPr>
          <p:cNvPr id="21" name="Image 3" descr="preencoded.png"/>
          <p:cNvPicPr>
            <a:picLocks noChangeAspect="1"/>
          </p:cNvPicPr>
          <p:nvPr/>
        </p:nvPicPr>
        <p:blipFill>
          <a:blip r:embed="rId6"/>
          <a:stretch>
            <a:fillRect/>
          </a:stretch>
        </p:blipFill>
        <p:spPr>
          <a:xfrm>
            <a:off x="9418320" y="1874520"/>
            <a:ext cx="365760" cy="365760"/>
          </a:xfrm>
          <a:prstGeom prst="rect">
            <a:avLst/>
          </a:prstGeom>
        </p:spPr>
      </p:pic>
      <p:sp>
        <p:nvSpPr>
          <p:cNvPr id="22" name="Text 15"/>
          <p:cNvSpPr txBox="1"/>
          <p:nvPr/>
        </p:nvSpPr>
        <p:spPr>
          <a:xfrm>
            <a:off x="9235440" y="251460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Tree-sitter</a:t>
            </a:r>
            <a:endParaRPr lang="en-US" sz="2000" dirty="0"/>
          </a:p>
        </p:txBody>
      </p:sp>
      <p:sp>
        <p:nvSpPr>
          <p:cNvPr id="23" name="Text 16"/>
          <p:cNvSpPr txBox="1"/>
          <p:nvPr/>
        </p:nvSpPr>
        <p:spPr>
          <a:xfrm>
            <a:off x="9235440" y="2926080"/>
            <a:ext cx="2286000" cy="548640"/>
          </a:xfrm>
          <a:prstGeom prst="rect">
            <a:avLst/>
          </a:prstGeom>
          <a:noFill/>
          <a:ln/>
        </p:spPr>
        <p:txBody>
          <a:bodyPr wrap="square" lIns="0" tIns="0" rIns="0" bIns="0" rtlCol="0" anchor="t"/>
          <a:lstStyle/>
          <a:p>
            <a:pPr marL="0" indent="0">
              <a:buNone/>
            </a:pPr>
            <a:r>
              <a:rPr lang="en-US" sz="1400" dirty="0">
                <a:solidFill>
                  <a:srgbClr val="A9B8D4"/>
                </a:solidFill>
              </a:rPr>
              <a:t>Parses code into syntax trees</a:t>
            </a:r>
            <a:endParaRPr lang="en-US" sz="1400" dirty="0"/>
          </a:p>
        </p:txBody>
      </p:sp>
      <p:sp>
        <p:nvSpPr>
          <p:cNvPr id="24" name="Shape 17"/>
          <p:cNvSpPr/>
          <p:nvPr/>
        </p:nvSpPr>
        <p:spPr>
          <a:xfrm>
            <a:off x="548640" y="3840480"/>
            <a:ext cx="2651760" cy="2103120"/>
          </a:xfrm>
          <a:prstGeom prst="roundRect">
            <a:avLst>
              <a:gd name="adj" fmla="val 5217"/>
            </a:avLst>
          </a:prstGeom>
          <a:solidFill>
            <a:srgbClr val="12213D"/>
          </a:solidFill>
          <a:ln w="12700">
            <a:solidFill>
              <a:srgbClr val="1B3A66"/>
            </a:solidFill>
            <a:prstDash val="solid"/>
          </a:ln>
        </p:spPr>
      </p:sp>
      <p:sp>
        <p:nvSpPr>
          <p:cNvPr id="25" name="Shape 18"/>
          <p:cNvSpPr/>
          <p:nvPr/>
        </p:nvSpPr>
        <p:spPr>
          <a:xfrm>
            <a:off x="731520" y="4069080"/>
            <a:ext cx="731520" cy="731520"/>
          </a:xfrm>
          <a:prstGeom prst="ellipse">
            <a:avLst/>
          </a:prstGeom>
          <a:solidFill>
            <a:srgbClr val="1B3A66"/>
          </a:solidFill>
          <a:ln w="12700">
            <a:solidFill>
              <a:srgbClr val="00E5FF"/>
            </a:solidFill>
            <a:prstDash val="solid"/>
          </a:ln>
        </p:spPr>
      </p:sp>
      <p:pic>
        <p:nvPicPr>
          <p:cNvPr id="26" name="Image 4" descr="preencoded.png"/>
          <p:cNvPicPr>
            <a:picLocks noChangeAspect="1"/>
          </p:cNvPicPr>
          <p:nvPr/>
        </p:nvPicPr>
        <p:blipFill>
          <a:blip r:embed="rId7"/>
          <a:stretch>
            <a:fillRect/>
          </a:stretch>
        </p:blipFill>
        <p:spPr>
          <a:xfrm>
            <a:off x="914400" y="4251960"/>
            <a:ext cx="365760" cy="365760"/>
          </a:xfrm>
          <a:prstGeom prst="rect">
            <a:avLst/>
          </a:prstGeom>
        </p:spPr>
      </p:pic>
      <p:sp>
        <p:nvSpPr>
          <p:cNvPr id="27" name="Text 19"/>
          <p:cNvSpPr txBox="1"/>
          <p:nvPr/>
        </p:nvSpPr>
        <p:spPr>
          <a:xfrm>
            <a:off x="731520" y="489204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Embeddings</a:t>
            </a:r>
            <a:endParaRPr lang="en-US" sz="2000" dirty="0"/>
          </a:p>
        </p:txBody>
      </p:sp>
      <p:sp>
        <p:nvSpPr>
          <p:cNvPr id="28" name="Text 20"/>
          <p:cNvSpPr txBox="1"/>
          <p:nvPr/>
        </p:nvSpPr>
        <p:spPr>
          <a:xfrm>
            <a:off x="731520" y="5303520"/>
            <a:ext cx="2286000" cy="548640"/>
          </a:xfrm>
          <a:prstGeom prst="rect">
            <a:avLst/>
          </a:prstGeom>
          <a:noFill/>
          <a:ln/>
        </p:spPr>
        <p:txBody>
          <a:bodyPr wrap="square" lIns="0" tIns="0" rIns="0" bIns="0" rtlCol="0" anchor="t"/>
          <a:lstStyle/>
          <a:p>
            <a:pPr marL="0" indent="0">
              <a:buNone/>
            </a:pPr>
            <a:r>
              <a:rPr lang="en-US" sz="1400" dirty="0">
                <a:solidFill>
                  <a:srgbClr val="A9B8D4"/>
                </a:solidFill>
              </a:rPr>
              <a:t>Vectors that capture code meaning</a:t>
            </a:r>
            <a:endParaRPr lang="en-US" sz="1400" dirty="0"/>
          </a:p>
        </p:txBody>
      </p:sp>
      <p:sp>
        <p:nvSpPr>
          <p:cNvPr id="29" name="Shape 21"/>
          <p:cNvSpPr/>
          <p:nvPr/>
        </p:nvSpPr>
        <p:spPr>
          <a:xfrm>
            <a:off x="3383280" y="3840480"/>
            <a:ext cx="2651760" cy="2103120"/>
          </a:xfrm>
          <a:prstGeom prst="roundRect">
            <a:avLst>
              <a:gd name="adj" fmla="val 5217"/>
            </a:avLst>
          </a:prstGeom>
          <a:solidFill>
            <a:srgbClr val="12213D"/>
          </a:solidFill>
          <a:ln w="12700">
            <a:solidFill>
              <a:srgbClr val="1B3A66"/>
            </a:solidFill>
            <a:prstDash val="solid"/>
          </a:ln>
        </p:spPr>
      </p:sp>
      <p:sp>
        <p:nvSpPr>
          <p:cNvPr id="30" name="Shape 22"/>
          <p:cNvSpPr/>
          <p:nvPr/>
        </p:nvSpPr>
        <p:spPr>
          <a:xfrm>
            <a:off x="3566160" y="4069080"/>
            <a:ext cx="731520" cy="731520"/>
          </a:xfrm>
          <a:prstGeom prst="ellipse">
            <a:avLst/>
          </a:prstGeom>
          <a:solidFill>
            <a:srgbClr val="1B3A66"/>
          </a:solidFill>
          <a:ln w="12700">
            <a:solidFill>
              <a:srgbClr val="00E5FF"/>
            </a:solidFill>
            <a:prstDash val="solid"/>
          </a:ln>
        </p:spPr>
      </p:sp>
      <p:pic>
        <p:nvPicPr>
          <p:cNvPr id="31" name="Image 5" descr="preencoded.png"/>
          <p:cNvPicPr>
            <a:picLocks noChangeAspect="1"/>
          </p:cNvPicPr>
          <p:nvPr/>
        </p:nvPicPr>
        <p:blipFill>
          <a:blip r:embed="rId8"/>
          <a:stretch>
            <a:fillRect/>
          </a:stretch>
        </p:blipFill>
        <p:spPr>
          <a:xfrm>
            <a:off x="3749040" y="4251960"/>
            <a:ext cx="365760" cy="365760"/>
          </a:xfrm>
          <a:prstGeom prst="rect">
            <a:avLst/>
          </a:prstGeom>
        </p:spPr>
      </p:pic>
      <p:sp>
        <p:nvSpPr>
          <p:cNvPr id="32" name="Text 23"/>
          <p:cNvSpPr txBox="1"/>
          <p:nvPr/>
        </p:nvSpPr>
        <p:spPr>
          <a:xfrm>
            <a:off x="3566160" y="489204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LLMs</a:t>
            </a:r>
            <a:endParaRPr lang="en-US" sz="2000" dirty="0"/>
          </a:p>
        </p:txBody>
      </p:sp>
      <p:sp>
        <p:nvSpPr>
          <p:cNvPr id="33" name="Text 24"/>
          <p:cNvSpPr txBox="1"/>
          <p:nvPr/>
        </p:nvSpPr>
        <p:spPr>
          <a:xfrm>
            <a:off x="3566160" y="5303520"/>
            <a:ext cx="2286000" cy="548640"/>
          </a:xfrm>
          <a:prstGeom prst="rect">
            <a:avLst/>
          </a:prstGeom>
          <a:noFill/>
          <a:ln/>
        </p:spPr>
        <p:txBody>
          <a:bodyPr wrap="square" lIns="0" tIns="0" rIns="0" bIns="0" rtlCol="0" anchor="t"/>
          <a:lstStyle/>
          <a:p>
            <a:pPr marL="0" indent="0">
              <a:buNone/>
            </a:pPr>
            <a:r>
              <a:rPr lang="en-US" sz="1400" dirty="0">
                <a:solidFill>
                  <a:srgbClr val="A9B8D4"/>
                </a:solidFill>
              </a:rPr>
              <a:t>Explain risks, suggest fixes</a:t>
            </a:r>
            <a:endParaRPr lang="en-US" sz="1400" dirty="0"/>
          </a:p>
        </p:txBody>
      </p:sp>
      <p:sp>
        <p:nvSpPr>
          <p:cNvPr id="34" name="Shape 25"/>
          <p:cNvSpPr/>
          <p:nvPr/>
        </p:nvSpPr>
        <p:spPr>
          <a:xfrm>
            <a:off x="6217920" y="3840480"/>
            <a:ext cx="2651760" cy="2103120"/>
          </a:xfrm>
          <a:prstGeom prst="roundRect">
            <a:avLst>
              <a:gd name="adj" fmla="val 5217"/>
            </a:avLst>
          </a:prstGeom>
          <a:solidFill>
            <a:srgbClr val="12213D"/>
          </a:solidFill>
          <a:ln w="12700">
            <a:solidFill>
              <a:srgbClr val="1B3A66"/>
            </a:solidFill>
            <a:prstDash val="solid"/>
          </a:ln>
        </p:spPr>
      </p:sp>
      <p:sp>
        <p:nvSpPr>
          <p:cNvPr id="35" name="Shape 26"/>
          <p:cNvSpPr/>
          <p:nvPr/>
        </p:nvSpPr>
        <p:spPr>
          <a:xfrm>
            <a:off x="6400800" y="4069080"/>
            <a:ext cx="731520" cy="731520"/>
          </a:xfrm>
          <a:prstGeom prst="ellipse">
            <a:avLst/>
          </a:prstGeom>
          <a:solidFill>
            <a:srgbClr val="1B3A66"/>
          </a:solidFill>
          <a:ln w="12700">
            <a:solidFill>
              <a:srgbClr val="00E5FF"/>
            </a:solidFill>
            <a:prstDash val="solid"/>
          </a:ln>
        </p:spPr>
      </p:sp>
      <p:pic>
        <p:nvPicPr>
          <p:cNvPr id="36" name="Image 6" descr="preencoded.png"/>
          <p:cNvPicPr>
            <a:picLocks noChangeAspect="1"/>
          </p:cNvPicPr>
          <p:nvPr/>
        </p:nvPicPr>
        <p:blipFill>
          <a:blip r:embed="rId9"/>
          <a:stretch>
            <a:fillRect/>
          </a:stretch>
        </p:blipFill>
        <p:spPr>
          <a:xfrm>
            <a:off x="6583680" y="4251960"/>
            <a:ext cx="365760" cy="365760"/>
          </a:xfrm>
          <a:prstGeom prst="rect">
            <a:avLst/>
          </a:prstGeom>
        </p:spPr>
      </p:pic>
      <p:sp>
        <p:nvSpPr>
          <p:cNvPr id="37" name="Text 27"/>
          <p:cNvSpPr txBox="1"/>
          <p:nvPr/>
        </p:nvSpPr>
        <p:spPr>
          <a:xfrm>
            <a:off x="6400800" y="489204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OWASP</a:t>
            </a:r>
            <a:endParaRPr lang="en-US" sz="2000" dirty="0"/>
          </a:p>
        </p:txBody>
      </p:sp>
      <p:sp>
        <p:nvSpPr>
          <p:cNvPr id="38" name="Text 28"/>
          <p:cNvSpPr txBox="1"/>
          <p:nvPr/>
        </p:nvSpPr>
        <p:spPr>
          <a:xfrm>
            <a:off x="6400800" y="5303520"/>
            <a:ext cx="2286000" cy="548640"/>
          </a:xfrm>
          <a:prstGeom prst="rect">
            <a:avLst/>
          </a:prstGeom>
          <a:noFill/>
          <a:ln/>
        </p:spPr>
        <p:txBody>
          <a:bodyPr wrap="square" lIns="0" tIns="0" rIns="0" bIns="0" rtlCol="0" anchor="t"/>
          <a:lstStyle/>
          <a:p>
            <a:pPr marL="0" indent="0">
              <a:buNone/>
            </a:pPr>
            <a:r>
              <a:rPr lang="en-US" sz="1400" dirty="0">
                <a:solidFill>
                  <a:srgbClr val="A9B8D4"/>
                </a:solidFill>
              </a:rPr>
              <a:t>Common web security risk guidance</a:t>
            </a:r>
            <a:endParaRPr lang="en-US" sz="1400" dirty="0"/>
          </a:p>
        </p:txBody>
      </p:sp>
      <p:sp>
        <p:nvSpPr>
          <p:cNvPr id="39" name="Shape 29"/>
          <p:cNvSpPr/>
          <p:nvPr/>
        </p:nvSpPr>
        <p:spPr>
          <a:xfrm>
            <a:off x="9052560" y="3840480"/>
            <a:ext cx="2651760" cy="2103120"/>
          </a:xfrm>
          <a:prstGeom prst="roundRect">
            <a:avLst>
              <a:gd name="adj" fmla="val 5217"/>
            </a:avLst>
          </a:prstGeom>
          <a:solidFill>
            <a:srgbClr val="12213D"/>
          </a:solidFill>
          <a:ln w="12700">
            <a:solidFill>
              <a:srgbClr val="1B3A66"/>
            </a:solidFill>
            <a:prstDash val="solid"/>
          </a:ln>
        </p:spPr>
      </p:sp>
      <p:sp>
        <p:nvSpPr>
          <p:cNvPr id="40" name="Shape 30"/>
          <p:cNvSpPr/>
          <p:nvPr/>
        </p:nvSpPr>
        <p:spPr>
          <a:xfrm>
            <a:off x="9235440" y="4069080"/>
            <a:ext cx="731520" cy="731520"/>
          </a:xfrm>
          <a:prstGeom prst="ellipse">
            <a:avLst/>
          </a:prstGeom>
          <a:solidFill>
            <a:srgbClr val="1B3A66"/>
          </a:solidFill>
          <a:ln w="12700">
            <a:solidFill>
              <a:srgbClr val="00E5FF"/>
            </a:solidFill>
            <a:prstDash val="solid"/>
          </a:ln>
        </p:spPr>
      </p:sp>
      <p:pic>
        <p:nvPicPr>
          <p:cNvPr id="41" name="Image 7" descr="preencoded.png"/>
          <p:cNvPicPr>
            <a:picLocks noChangeAspect="1"/>
          </p:cNvPicPr>
          <p:nvPr/>
        </p:nvPicPr>
        <p:blipFill>
          <a:blip r:embed="rId10"/>
          <a:stretch>
            <a:fillRect/>
          </a:stretch>
        </p:blipFill>
        <p:spPr>
          <a:xfrm>
            <a:off x="9418320" y="4251960"/>
            <a:ext cx="365760" cy="365760"/>
          </a:xfrm>
          <a:prstGeom prst="rect">
            <a:avLst/>
          </a:prstGeom>
        </p:spPr>
      </p:pic>
      <p:sp>
        <p:nvSpPr>
          <p:cNvPr id="42" name="Text 31"/>
          <p:cNvSpPr txBox="1"/>
          <p:nvPr/>
        </p:nvSpPr>
        <p:spPr>
          <a:xfrm>
            <a:off x="9235440" y="4892040"/>
            <a:ext cx="2286000" cy="411480"/>
          </a:xfrm>
          <a:prstGeom prst="rect">
            <a:avLst/>
          </a:prstGeom>
          <a:noFill/>
          <a:ln/>
        </p:spPr>
        <p:txBody>
          <a:bodyPr wrap="square" lIns="0" tIns="0" rIns="0" bIns="0" rtlCol="0" anchor="ctr"/>
          <a:lstStyle/>
          <a:p>
            <a:pPr marL="0" indent="0">
              <a:buNone/>
            </a:pPr>
            <a:r>
              <a:rPr lang="en-US" sz="2000" b="1" dirty="0">
                <a:solidFill>
                  <a:srgbClr val="FFFFFF"/>
                </a:solidFill>
              </a:rPr>
              <a:t>CWE</a:t>
            </a:r>
            <a:endParaRPr lang="en-US" sz="2000" dirty="0"/>
          </a:p>
        </p:txBody>
      </p:sp>
      <p:sp>
        <p:nvSpPr>
          <p:cNvPr id="43" name="Text 32"/>
          <p:cNvSpPr txBox="1"/>
          <p:nvPr/>
        </p:nvSpPr>
        <p:spPr>
          <a:xfrm>
            <a:off x="9235440" y="5303520"/>
            <a:ext cx="2286000" cy="548640"/>
          </a:xfrm>
          <a:prstGeom prst="rect">
            <a:avLst/>
          </a:prstGeom>
          <a:noFill/>
          <a:ln/>
        </p:spPr>
        <p:txBody>
          <a:bodyPr wrap="square" lIns="0" tIns="0" rIns="0" bIns="0" rtlCol="0" anchor="t"/>
          <a:lstStyle/>
          <a:p>
            <a:pPr marL="0" indent="0">
              <a:buNone/>
            </a:pPr>
            <a:r>
              <a:rPr lang="en-US" sz="1400" dirty="0">
                <a:solidFill>
                  <a:srgbClr val="A9B8D4"/>
                </a:solidFill>
              </a:rPr>
              <a:t>Catalog of weakness types and IDs</a:t>
            </a:r>
            <a:endParaRPr lang="en-US" sz="14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Working Methodology</a:t>
            </a:r>
            <a:endParaRPr lang="en-US" sz="3600" dirty="0"/>
          </a:p>
        </p:txBody>
      </p:sp>
      <p:sp>
        <p:nvSpPr>
          <p:cNvPr id="4" name="Shape 1"/>
          <p:cNvSpPr/>
          <p:nvPr/>
        </p:nvSpPr>
        <p:spPr>
          <a:xfrm>
            <a:off x="548640" y="1417320"/>
            <a:ext cx="3200400" cy="2103120"/>
          </a:xfrm>
          <a:prstGeom prst="roundRect">
            <a:avLst>
              <a:gd name="adj" fmla="val 5217"/>
            </a:avLst>
          </a:prstGeom>
          <a:solidFill>
            <a:srgbClr val="12213D"/>
          </a:solidFill>
          <a:ln w="12700">
            <a:solidFill>
              <a:srgbClr val="1B3A66"/>
            </a:solidFill>
            <a:prstDash val="solid"/>
          </a:ln>
        </p:spPr>
      </p:sp>
      <p:sp>
        <p:nvSpPr>
          <p:cNvPr id="5" name="Shape 2"/>
          <p:cNvSpPr/>
          <p:nvPr/>
        </p:nvSpPr>
        <p:spPr>
          <a:xfrm>
            <a:off x="777240" y="1645920"/>
            <a:ext cx="640080" cy="640080"/>
          </a:xfrm>
          <a:prstGeom prst="ellipse">
            <a:avLst/>
          </a:prstGeom>
          <a:solidFill>
            <a:srgbClr val="00E5FF"/>
          </a:solidFill>
          <a:ln w="12700">
            <a:solidFill>
              <a:srgbClr val="00E5FF"/>
            </a:solidFill>
            <a:prstDash val="solid"/>
          </a:ln>
        </p:spPr>
      </p:sp>
      <p:sp>
        <p:nvSpPr>
          <p:cNvPr id="6" name="Text 3"/>
          <p:cNvSpPr txBox="1"/>
          <p:nvPr/>
        </p:nvSpPr>
        <p:spPr>
          <a:xfrm>
            <a:off x="777240" y="1645920"/>
            <a:ext cx="640080" cy="640080"/>
          </a:xfrm>
          <a:prstGeom prst="rect">
            <a:avLst/>
          </a:prstGeom>
          <a:noFill/>
          <a:ln/>
        </p:spPr>
        <p:txBody>
          <a:bodyPr wrap="square" lIns="0" tIns="0" rIns="0" bIns="0" rtlCol="0" anchor="ctr"/>
          <a:lstStyle/>
          <a:p>
            <a:pPr marL="0" indent="0" algn="ctr">
              <a:buNone/>
            </a:pPr>
            <a:r>
              <a:rPr lang="en-US" sz="2200" b="1" dirty="0">
                <a:solidFill>
                  <a:srgbClr val="0B1426"/>
                </a:solidFill>
              </a:rPr>
              <a:t>1</a:t>
            </a:r>
            <a:endParaRPr lang="en-US" sz="2200" dirty="0"/>
          </a:p>
        </p:txBody>
      </p:sp>
      <p:pic>
        <p:nvPicPr>
          <p:cNvPr id="7" name="Image 0" descr="preencoded.png"/>
          <p:cNvPicPr>
            <a:picLocks noChangeAspect="1"/>
          </p:cNvPicPr>
          <p:nvPr/>
        </p:nvPicPr>
        <p:blipFill>
          <a:blip r:embed="rId3"/>
          <a:stretch>
            <a:fillRect/>
          </a:stretch>
        </p:blipFill>
        <p:spPr>
          <a:xfrm>
            <a:off x="2971800" y="1737360"/>
            <a:ext cx="457200" cy="457200"/>
          </a:xfrm>
          <a:prstGeom prst="rect">
            <a:avLst/>
          </a:prstGeom>
        </p:spPr>
      </p:pic>
      <p:sp>
        <p:nvSpPr>
          <p:cNvPr id="8" name="Text 4"/>
          <p:cNvSpPr txBox="1"/>
          <p:nvPr/>
        </p:nvSpPr>
        <p:spPr>
          <a:xfrm>
            <a:off x="777240" y="2377440"/>
            <a:ext cx="2743200" cy="411480"/>
          </a:xfrm>
          <a:prstGeom prst="rect">
            <a:avLst/>
          </a:prstGeom>
          <a:noFill/>
          <a:ln/>
        </p:spPr>
        <p:txBody>
          <a:bodyPr wrap="square" lIns="0" tIns="0" rIns="0" bIns="0" rtlCol="0" anchor="ctr"/>
          <a:lstStyle/>
          <a:p>
            <a:pPr marL="0" indent="0">
              <a:buNone/>
            </a:pPr>
            <a:r>
              <a:rPr lang="en-US" sz="2000" b="1" dirty="0">
                <a:solidFill>
                  <a:srgbClr val="FFFFFF"/>
                </a:solidFill>
              </a:rPr>
              <a:t>Submit</a:t>
            </a:r>
            <a:endParaRPr lang="en-US" sz="2000" dirty="0"/>
          </a:p>
        </p:txBody>
      </p:sp>
      <p:sp>
        <p:nvSpPr>
          <p:cNvPr id="9" name="Text 5"/>
          <p:cNvSpPr txBox="1"/>
          <p:nvPr/>
        </p:nvSpPr>
        <p:spPr>
          <a:xfrm>
            <a:off x="777240" y="2788920"/>
            <a:ext cx="2743200" cy="685800"/>
          </a:xfrm>
          <a:prstGeom prst="rect">
            <a:avLst/>
          </a:prstGeom>
          <a:noFill/>
          <a:ln/>
        </p:spPr>
        <p:txBody>
          <a:bodyPr wrap="square" lIns="0" tIns="0" rIns="0" bIns="0" rtlCol="0" anchor="t"/>
          <a:lstStyle/>
          <a:p>
            <a:pPr marL="0" indent="0">
              <a:buNone/>
            </a:pPr>
            <a:r>
              <a:rPr lang="en-US" sz="1400" dirty="0">
                <a:solidFill>
                  <a:srgbClr val="A9B8D4"/>
                </a:solidFill>
              </a:rPr>
              <a:t>Enter a GitHub repo URL or paste source code</a:t>
            </a:r>
            <a:endParaRPr lang="en-US" sz="1400" dirty="0"/>
          </a:p>
        </p:txBody>
      </p:sp>
      <p:pic>
        <p:nvPicPr>
          <p:cNvPr id="10" name="Image 1" descr="preencoded.png"/>
          <p:cNvPicPr>
            <a:picLocks noChangeAspect="1"/>
          </p:cNvPicPr>
          <p:nvPr/>
        </p:nvPicPr>
        <p:blipFill>
          <a:blip r:embed="rId4"/>
          <a:stretch>
            <a:fillRect/>
          </a:stretch>
        </p:blipFill>
        <p:spPr>
          <a:xfrm>
            <a:off x="3840480" y="2331720"/>
            <a:ext cx="274320" cy="274320"/>
          </a:xfrm>
          <a:prstGeom prst="rect">
            <a:avLst/>
          </a:prstGeom>
        </p:spPr>
      </p:pic>
      <p:sp>
        <p:nvSpPr>
          <p:cNvPr id="11" name="Shape 6"/>
          <p:cNvSpPr/>
          <p:nvPr/>
        </p:nvSpPr>
        <p:spPr>
          <a:xfrm>
            <a:off x="4389120" y="1417320"/>
            <a:ext cx="3200400" cy="2103120"/>
          </a:xfrm>
          <a:prstGeom prst="roundRect">
            <a:avLst>
              <a:gd name="adj" fmla="val 5217"/>
            </a:avLst>
          </a:prstGeom>
          <a:solidFill>
            <a:srgbClr val="12213D"/>
          </a:solidFill>
          <a:ln w="12700">
            <a:solidFill>
              <a:srgbClr val="1B3A66"/>
            </a:solidFill>
            <a:prstDash val="solid"/>
          </a:ln>
        </p:spPr>
      </p:sp>
      <p:sp>
        <p:nvSpPr>
          <p:cNvPr id="12" name="Shape 7"/>
          <p:cNvSpPr/>
          <p:nvPr/>
        </p:nvSpPr>
        <p:spPr>
          <a:xfrm>
            <a:off x="4617720" y="1645920"/>
            <a:ext cx="640080" cy="640080"/>
          </a:xfrm>
          <a:prstGeom prst="ellipse">
            <a:avLst/>
          </a:prstGeom>
          <a:solidFill>
            <a:srgbClr val="00E5FF"/>
          </a:solidFill>
          <a:ln w="12700">
            <a:solidFill>
              <a:srgbClr val="00E5FF"/>
            </a:solidFill>
            <a:prstDash val="solid"/>
          </a:ln>
        </p:spPr>
      </p:sp>
      <p:sp>
        <p:nvSpPr>
          <p:cNvPr id="13" name="Text 8"/>
          <p:cNvSpPr txBox="1"/>
          <p:nvPr/>
        </p:nvSpPr>
        <p:spPr>
          <a:xfrm>
            <a:off x="4617720" y="1645920"/>
            <a:ext cx="640080" cy="640080"/>
          </a:xfrm>
          <a:prstGeom prst="rect">
            <a:avLst/>
          </a:prstGeom>
          <a:noFill/>
          <a:ln/>
        </p:spPr>
        <p:txBody>
          <a:bodyPr wrap="square" lIns="0" tIns="0" rIns="0" bIns="0" rtlCol="0" anchor="ctr"/>
          <a:lstStyle/>
          <a:p>
            <a:pPr marL="0" indent="0" algn="ctr">
              <a:buNone/>
            </a:pPr>
            <a:r>
              <a:rPr lang="en-US" sz="2200" b="1" dirty="0">
                <a:solidFill>
                  <a:srgbClr val="0B1426"/>
                </a:solidFill>
              </a:rPr>
              <a:t>2</a:t>
            </a:r>
            <a:endParaRPr lang="en-US" sz="2200" dirty="0"/>
          </a:p>
        </p:txBody>
      </p:sp>
      <p:pic>
        <p:nvPicPr>
          <p:cNvPr id="14" name="Image 2" descr="preencoded.png"/>
          <p:cNvPicPr>
            <a:picLocks noChangeAspect="1"/>
          </p:cNvPicPr>
          <p:nvPr/>
        </p:nvPicPr>
        <p:blipFill>
          <a:blip r:embed="rId5"/>
          <a:stretch>
            <a:fillRect/>
          </a:stretch>
        </p:blipFill>
        <p:spPr>
          <a:xfrm>
            <a:off x="6812280" y="1737360"/>
            <a:ext cx="457200" cy="457200"/>
          </a:xfrm>
          <a:prstGeom prst="rect">
            <a:avLst/>
          </a:prstGeom>
        </p:spPr>
      </p:pic>
      <p:sp>
        <p:nvSpPr>
          <p:cNvPr id="15" name="Text 9"/>
          <p:cNvSpPr txBox="1"/>
          <p:nvPr/>
        </p:nvSpPr>
        <p:spPr>
          <a:xfrm>
            <a:off x="4617720" y="2377440"/>
            <a:ext cx="2743200" cy="411480"/>
          </a:xfrm>
          <a:prstGeom prst="rect">
            <a:avLst/>
          </a:prstGeom>
          <a:noFill/>
          <a:ln/>
        </p:spPr>
        <p:txBody>
          <a:bodyPr wrap="square" lIns="0" tIns="0" rIns="0" bIns="0" rtlCol="0" anchor="ctr"/>
          <a:lstStyle/>
          <a:p>
            <a:pPr marL="0" indent="0">
              <a:buNone/>
            </a:pPr>
            <a:r>
              <a:rPr lang="en-US" sz="2000" b="1" dirty="0">
                <a:solidFill>
                  <a:srgbClr val="FFFFFF"/>
                </a:solidFill>
              </a:rPr>
              <a:t>Fetch</a:t>
            </a:r>
            <a:endParaRPr lang="en-US" sz="2000" dirty="0"/>
          </a:p>
        </p:txBody>
      </p:sp>
      <p:sp>
        <p:nvSpPr>
          <p:cNvPr id="16" name="Text 10"/>
          <p:cNvSpPr txBox="1"/>
          <p:nvPr/>
        </p:nvSpPr>
        <p:spPr>
          <a:xfrm>
            <a:off x="4617720" y="2788920"/>
            <a:ext cx="2743200" cy="685800"/>
          </a:xfrm>
          <a:prstGeom prst="rect">
            <a:avLst/>
          </a:prstGeom>
          <a:noFill/>
          <a:ln/>
        </p:spPr>
        <p:txBody>
          <a:bodyPr wrap="square" lIns="0" tIns="0" rIns="0" bIns="0" rtlCol="0" anchor="t"/>
          <a:lstStyle/>
          <a:p>
            <a:pPr marL="0" indent="0">
              <a:buNone/>
            </a:pPr>
            <a:r>
              <a:rPr lang="en-US" sz="1400" dirty="0">
                <a:solidFill>
                  <a:srgbClr val="A9B8D4"/>
                </a:solidFill>
              </a:rPr>
              <a:t>FastAPI requests files through the GitHub API</a:t>
            </a:r>
            <a:endParaRPr lang="en-US" sz="1400" dirty="0"/>
          </a:p>
        </p:txBody>
      </p:sp>
      <p:pic>
        <p:nvPicPr>
          <p:cNvPr id="17" name="Image 3" descr="preencoded.png"/>
          <p:cNvPicPr>
            <a:picLocks noChangeAspect="1"/>
          </p:cNvPicPr>
          <p:nvPr/>
        </p:nvPicPr>
        <p:blipFill>
          <a:blip r:embed="rId4"/>
          <a:stretch>
            <a:fillRect/>
          </a:stretch>
        </p:blipFill>
        <p:spPr>
          <a:xfrm>
            <a:off x="7680960" y="2331720"/>
            <a:ext cx="274320" cy="274320"/>
          </a:xfrm>
          <a:prstGeom prst="rect">
            <a:avLst/>
          </a:prstGeom>
        </p:spPr>
      </p:pic>
      <p:sp>
        <p:nvSpPr>
          <p:cNvPr id="18" name="Shape 11"/>
          <p:cNvSpPr/>
          <p:nvPr/>
        </p:nvSpPr>
        <p:spPr>
          <a:xfrm>
            <a:off x="8229600" y="1417320"/>
            <a:ext cx="3200400" cy="2103120"/>
          </a:xfrm>
          <a:prstGeom prst="roundRect">
            <a:avLst>
              <a:gd name="adj" fmla="val 5217"/>
            </a:avLst>
          </a:prstGeom>
          <a:solidFill>
            <a:srgbClr val="12213D"/>
          </a:solidFill>
          <a:ln w="12700">
            <a:solidFill>
              <a:srgbClr val="1B3A66"/>
            </a:solidFill>
            <a:prstDash val="solid"/>
          </a:ln>
        </p:spPr>
      </p:sp>
      <p:sp>
        <p:nvSpPr>
          <p:cNvPr id="19" name="Shape 12"/>
          <p:cNvSpPr/>
          <p:nvPr/>
        </p:nvSpPr>
        <p:spPr>
          <a:xfrm>
            <a:off x="8458200" y="1645920"/>
            <a:ext cx="640080" cy="640080"/>
          </a:xfrm>
          <a:prstGeom prst="ellipse">
            <a:avLst/>
          </a:prstGeom>
          <a:solidFill>
            <a:srgbClr val="00E5FF"/>
          </a:solidFill>
          <a:ln w="12700">
            <a:solidFill>
              <a:srgbClr val="00E5FF"/>
            </a:solidFill>
            <a:prstDash val="solid"/>
          </a:ln>
        </p:spPr>
      </p:sp>
      <p:sp>
        <p:nvSpPr>
          <p:cNvPr id="20" name="Text 13"/>
          <p:cNvSpPr txBox="1"/>
          <p:nvPr/>
        </p:nvSpPr>
        <p:spPr>
          <a:xfrm>
            <a:off x="8458200" y="1645920"/>
            <a:ext cx="640080" cy="640080"/>
          </a:xfrm>
          <a:prstGeom prst="rect">
            <a:avLst/>
          </a:prstGeom>
          <a:noFill/>
          <a:ln/>
        </p:spPr>
        <p:txBody>
          <a:bodyPr wrap="square" lIns="0" tIns="0" rIns="0" bIns="0" rtlCol="0" anchor="ctr"/>
          <a:lstStyle/>
          <a:p>
            <a:pPr marL="0" indent="0" algn="ctr">
              <a:buNone/>
            </a:pPr>
            <a:r>
              <a:rPr lang="en-US" sz="2200" b="1" dirty="0">
                <a:solidFill>
                  <a:srgbClr val="0B1426"/>
                </a:solidFill>
              </a:rPr>
              <a:t>3</a:t>
            </a:r>
            <a:endParaRPr lang="en-US" sz="2200" dirty="0"/>
          </a:p>
        </p:txBody>
      </p:sp>
      <p:pic>
        <p:nvPicPr>
          <p:cNvPr id="21" name="Image 4" descr="preencoded.png"/>
          <p:cNvPicPr>
            <a:picLocks noChangeAspect="1"/>
          </p:cNvPicPr>
          <p:nvPr/>
        </p:nvPicPr>
        <p:blipFill>
          <a:blip r:embed="rId6"/>
          <a:stretch>
            <a:fillRect/>
          </a:stretch>
        </p:blipFill>
        <p:spPr>
          <a:xfrm>
            <a:off x="10652760" y="1737360"/>
            <a:ext cx="457200" cy="457200"/>
          </a:xfrm>
          <a:prstGeom prst="rect">
            <a:avLst/>
          </a:prstGeom>
        </p:spPr>
      </p:pic>
      <p:sp>
        <p:nvSpPr>
          <p:cNvPr id="22" name="Text 14"/>
          <p:cNvSpPr txBox="1"/>
          <p:nvPr/>
        </p:nvSpPr>
        <p:spPr>
          <a:xfrm>
            <a:off x="8458200" y="2377440"/>
            <a:ext cx="2743200" cy="411480"/>
          </a:xfrm>
          <a:prstGeom prst="rect">
            <a:avLst/>
          </a:prstGeom>
          <a:noFill/>
          <a:ln/>
        </p:spPr>
        <p:txBody>
          <a:bodyPr wrap="square" lIns="0" tIns="0" rIns="0" bIns="0" rtlCol="0" anchor="ctr"/>
          <a:lstStyle/>
          <a:p>
            <a:pPr marL="0" indent="0">
              <a:buNone/>
            </a:pPr>
            <a:r>
              <a:rPr lang="en-US" sz="2000" b="1" dirty="0">
                <a:solidFill>
                  <a:srgbClr val="FFFFFF"/>
                </a:solidFill>
              </a:rPr>
              <a:t>Parse</a:t>
            </a:r>
            <a:endParaRPr lang="en-US" sz="2000" dirty="0"/>
          </a:p>
        </p:txBody>
      </p:sp>
      <p:sp>
        <p:nvSpPr>
          <p:cNvPr id="23" name="Text 15"/>
          <p:cNvSpPr txBox="1"/>
          <p:nvPr/>
        </p:nvSpPr>
        <p:spPr>
          <a:xfrm>
            <a:off x="8458200" y="2788920"/>
            <a:ext cx="2743200" cy="685800"/>
          </a:xfrm>
          <a:prstGeom prst="rect">
            <a:avLst/>
          </a:prstGeom>
          <a:noFill/>
          <a:ln/>
        </p:spPr>
        <p:txBody>
          <a:bodyPr wrap="square" lIns="0" tIns="0" rIns="0" bIns="0" rtlCol="0" anchor="t"/>
          <a:lstStyle/>
          <a:p>
            <a:pPr marL="0" indent="0">
              <a:buNone/>
            </a:pPr>
            <a:r>
              <a:rPr lang="en-US" sz="1400" dirty="0">
                <a:solidFill>
                  <a:srgbClr val="A9B8D4"/>
                </a:solidFill>
              </a:rPr>
              <a:t>Tree-sitter extracts functions and classes</a:t>
            </a:r>
            <a:endParaRPr lang="en-US" sz="1400" dirty="0"/>
          </a:p>
        </p:txBody>
      </p:sp>
      <p:sp>
        <p:nvSpPr>
          <p:cNvPr id="24" name="Shape 16"/>
          <p:cNvSpPr/>
          <p:nvPr/>
        </p:nvSpPr>
        <p:spPr>
          <a:xfrm>
            <a:off x="548640" y="3886200"/>
            <a:ext cx="3200400" cy="2103120"/>
          </a:xfrm>
          <a:prstGeom prst="roundRect">
            <a:avLst>
              <a:gd name="adj" fmla="val 5217"/>
            </a:avLst>
          </a:prstGeom>
          <a:solidFill>
            <a:srgbClr val="12213D"/>
          </a:solidFill>
          <a:ln w="12700">
            <a:solidFill>
              <a:srgbClr val="1B3A66"/>
            </a:solidFill>
            <a:prstDash val="solid"/>
          </a:ln>
        </p:spPr>
      </p:sp>
      <p:sp>
        <p:nvSpPr>
          <p:cNvPr id="25" name="Shape 17"/>
          <p:cNvSpPr/>
          <p:nvPr/>
        </p:nvSpPr>
        <p:spPr>
          <a:xfrm>
            <a:off x="777240" y="4114800"/>
            <a:ext cx="640080" cy="640080"/>
          </a:xfrm>
          <a:prstGeom prst="ellipse">
            <a:avLst/>
          </a:prstGeom>
          <a:solidFill>
            <a:srgbClr val="00E5FF"/>
          </a:solidFill>
          <a:ln w="12700">
            <a:solidFill>
              <a:srgbClr val="00E5FF"/>
            </a:solidFill>
            <a:prstDash val="solid"/>
          </a:ln>
        </p:spPr>
      </p:sp>
      <p:sp>
        <p:nvSpPr>
          <p:cNvPr id="26" name="Text 18"/>
          <p:cNvSpPr txBox="1"/>
          <p:nvPr/>
        </p:nvSpPr>
        <p:spPr>
          <a:xfrm>
            <a:off x="777240" y="4114800"/>
            <a:ext cx="640080" cy="640080"/>
          </a:xfrm>
          <a:prstGeom prst="rect">
            <a:avLst/>
          </a:prstGeom>
          <a:noFill/>
          <a:ln/>
        </p:spPr>
        <p:txBody>
          <a:bodyPr wrap="square" lIns="0" tIns="0" rIns="0" bIns="0" rtlCol="0" anchor="ctr"/>
          <a:lstStyle/>
          <a:p>
            <a:pPr marL="0" indent="0" algn="ctr">
              <a:buNone/>
            </a:pPr>
            <a:r>
              <a:rPr lang="en-US" sz="2200" b="1" dirty="0">
                <a:solidFill>
                  <a:srgbClr val="0B1426"/>
                </a:solidFill>
              </a:rPr>
              <a:t>4</a:t>
            </a:r>
            <a:endParaRPr lang="en-US" sz="2200" dirty="0"/>
          </a:p>
        </p:txBody>
      </p:sp>
      <p:pic>
        <p:nvPicPr>
          <p:cNvPr id="27" name="Image 5" descr="preencoded.png"/>
          <p:cNvPicPr>
            <a:picLocks noChangeAspect="1"/>
          </p:cNvPicPr>
          <p:nvPr/>
        </p:nvPicPr>
        <p:blipFill>
          <a:blip r:embed="rId7"/>
          <a:stretch>
            <a:fillRect/>
          </a:stretch>
        </p:blipFill>
        <p:spPr>
          <a:xfrm>
            <a:off x="2971800" y="4206240"/>
            <a:ext cx="457200" cy="457200"/>
          </a:xfrm>
          <a:prstGeom prst="rect">
            <a:avLst/>
          </a:prstGeom>
        </p:spPr>
      </p:pic>
      <p:sp>
        <p:nvSpPr>
          <p:cNvPr id="28" name="Text 19"/>
          <p:cNvSpPr txBox="1"/>
          <p:nvPr/>
        </p:nvSpPr>
        <p:spPr>
          <a:xfrm>
            <a:off x="777240" y="4846320"/>
            <a:ext cx="2743200" cy="411480"/>
          </a:xfrm>
          <a:prstGeom prst="rect">
            <a:avLst/>
          </a:prstGeom>
          <a:noFill/>
          <a:ln/>
        </p:spPr>
        <p:txBody>
          <a:bodyPr wrap="square" lIns="0" tIns="0" rIns="0" bIns="0" rtlCol="0" anchor="ctr"/>
          <a:lstStyle/>
          <a:p>
            <a:pPr marL="0" indent="0">
              <a:buNone/>
            </a:pPr>
            <a:r>
              <a:rPr lang="en-US" sz="2000" b="1" dirty="0">
                <a:solidFill>
                  <a:srgbClr val="FFFFFF"/>
                </a:solidFill>
              </a:rPr>
              <a:t>Embed</a:t>
            </a:r>
            <a:endParaRPr lang="en-US" sz="2000" dirty="0"/>
          </a:p>
        </p:txBody>
      </p:sp>
      <p:sp>
        <p:nvSpPr>
          <p:cNvPr id="29" name="Text 20"/>
          <p:cNvSpPr txBox="1"/>
          <p:nvPr/>
        </p:nvSpPr>
        <p:spPr>
          <a:xfrm>
            <a:off x="777240" y="5257800"/>
            <a:ext cx="2743200" cy="685800"/>
          </a:xfrm>
          <a:prstGeom prst="rect">
            <a:avLst/>
          </a:prstGeom>
          <a:noFill/>
          <a:ln/>
        </p:spPr>
        <p:txBody>
          <a:bodyPr wrap="square" lIns="0" tIns="0" rIns="0" bIns="0" rtlCol="0" anchor="t"/>
          <a:lstStyle/>
          <a:p>
            <a:pPr marL="0" indent="0">
              <a:buNone/>
            </a:pPr>
            <a:r>
              <a:rPr lang="en-US" sz="1400" dirty="0">
                <a:solidFill>
                  <a:srgbClr val="A9B8D4"/>
                </a:solidFill>
              </a:rPr>
              <a:t>Code chunks become vectors; risky-looking code is shortlisted</a:t>
            </a:r>
            <a:endParaRPr lang="en-US" sz="1400" dirty="0"/>
          </a:p>
        </p:txBody>
      </p:sp>
      <p:pic>
        <p:nvPicPr>
          <p:cNvPr id="30" name="Image 6" descr="preencoded.png"/>
          <p:cNvPicPr>
            <a:picLocks noChangeAspect="1"/>
          </p:cNvPicPr>
          <p:nvPr/>
        </p:nvPicPr>
        <p:blipFill>
          <a:blip r:embed="rId4"/>
          <a:stretch>
            <a:fillRect/>
          </a:stretch>
        </p:blipFill>
        <p:spPr>
          <a:xfrm>
            <a:off x="3840480" y="4800600"/>
            <a:ext cx="274320" cy="274320"/>
          </a:xfrm>
          <a:prstGeom prst="rect">
            <a:avLst/>
          </a:prstGeom>
        </p:spPr>
      </p:pic>
      <p:sp>
        <p:nvSpPr>
          <p:cNvPr id="31" name="Shape 21"/>
          <p:cNvSpPr/>
          <p:nvPr/>
        </p:nvSpPr>
        <p:spPr>
          <a:xfrm>
            <a:off x="4389120" y="3886200"/>
            <a:ext cx="3200400" cy="2103120"/>
          </a:xfrm>
          <a:prstGeom prst="roundRect">
            <a:avLst>
              <a:gd name="adj" fmla="val 5217"/>
            </a:avLst>
          </a:prstGeom>
          <a:solidFill>
            <a:srgbClr val="12213D"/>
          </a:solidFill>
          <a:ln w="12700">
            <a:solidFill>
              <a:srgbClr val="1B3A66"/>
            </a:solidFill>
            <a:prstDash val="solid"/>
          </a:ln>
        </p:spPr>
      </p:sp>
      <p:sp>
        <p:nvSpPr>
          <p:cNvPr id="32" name="Shape 22"/>
          <p:cNvSpPr/>
          <p:nvPr/>
        </p:nvSpPr>
        <p:spPr>
          <a:xfrm>
            <a:off x="4617720" y="4114800"/>
            <a:ext cx="640080" cy="640080"/>
          </a:xfrm>
          <a:prstGeom prst="ellipse">
            <a:avLst/>
          </a:prstGeom>
          <a:solidFill>
            <a:srgbClr val="00E5FF"/>
          </a:solidFill>
          <a:ln w="12700">
            <a:solidFill>
              <a:srgbClr val="00E5FF"/>
            </a:solidFill>
            <a:prstDash val="solid"/>
          </a:ln>
        </p:spPr>
      </p:sp>
      <p:sp>
        <p:nvSpPr>
          <p:cNvPr id="33" name="Text 23"/>
          <p:cNvSpPr txBox="1"/>
          <p:nvPr/>
        </p:nvSpPr>
        <p:spPr>
          <a:xfrm>
            <a:off x="4617720" y="4114800"/>
            <a:ext cx="640080" cy="640080"/>
          </a:xfrm>
          <a:prstGeom prst="rect">
            <a:avLst/>
          </a:prstGeom>
          <a:noFill/>
          <a:ln/>
        </p:spPr>
        <p:txBody>
          <a:bodyPr wrap="square" lIns="0" tIns="0" rIns="0" bIns="0" rtlCol="0" anchor="ctr"/>
          <a:lstStyle/>
          <a:p>
            <a:pPr marL="0" indent="0" algn="ctr">
              <a:buNone/>
            </a:pPr>
            <a:r>
              <a:rPr lang="en-US" sz="2200" b="1" dirty="0">
                <a:solidFill>
                  <a:srgbClr val="0B1426"/>
                </a:solidFill>
              </a:rPr>
              <a:t>5</a:t>
            </a:r>
            <a:endParaRPr lang="en-US" sz="2200" dirty="0"/>
          </a:p>
        </p:txBody>
      </p:sp>
      <p:pic>
        <p:nvPicPr>
          <p:cNvPr id="34" name="Image 7" descr="preencoded.png"/>
          <p:cNvPicPr>
            <a:picLocks noChangeAspect="1"/>
          </p:cNvPicPr>
          <p:nvPr/>
        </p:nvPicPr>
        <p:blipFill>
          <a:blip r:embed="rId8"/>
          <a:stretch>
            <a:fillRect/>
          </a:stretch>
        </p:blipFill>
        <p:spPr>
          <a:xfrm>
            <a:off x="6812280" y="4206240"/>
            <a:ext cx="457200" cy="457200"/>
          </a:xfrm>
          <a:prstGeom prst="rect">
            <a:avLst/>
          </a:prstGeom>
        </p:spPr>
      </p:pic>
      <p:sp>
        <p:nvSpPr>
          <p:cNvPr id="35" name="Text 24"/>
          <p:cNvSpPr txBox="1"/>
          <p:nvPr/>
        </p:nvSpPr>
        <p:spPr>
          <a:xfrm>
            <a:off x="4617720" y="4846320"/>
            <a:ext cx="2743200" cy="411480"/>
          </a:xfrm>
          <a:prstGeom prst="rect">
            <a:avLst/>
          </a:prstGeom>
          <a:noFill/>
          <a:ln/>
        </p:spPr>
        <p:txBody>
          <a:bodyPr wrap="square" lIns="0" tIns="0" rIns="0" bIns="0" rtlCol="0" anchor="ctr"/>
          <a:lstStyle/>
          <a:p>
            <a:pPr marL="0" indent="0">
              <a:buNone/>
            </a:pPr>
            <a:r>
              <a:rPr lang="en-US" sz="2000" b="1" dirty="0">
                <a:solidFill>
                  <a:srgbClr val="FFFFFF"/>
                </a:solidFill>
              </a:rPr>
              <a:t>Analyze</a:t>
            </a:r>
            <a:endParaRPr lang="en-US" sz="2000" dirty="0"/>
          </a:p>
        </p:txBody>
      </p:sp>
      <p:sp>
        <p:nvSpPr>
          <p:cNvPr id="36" name="Text 25"/>
          <p:cNvSpPr txBox="1"/>
          <p:nvPr/>
        </p:nvSpPr>
        <p:spPr>
          <a:xfrm>
            <a:off x="4617720" y="5257800"/>
            <a:ext cx="2743200" cy="685800"/>
          </a:xfrm>
          <a:prstGeom prst="rect">
            <a:avLst/>
          </a:prstGeom>
          <a:noFill/>
          <a:ln/>
        </p:spPr>
        <p:txBody>
          <a:bodyPr wrap="square" lIns="0" tIns="0" rIns="0" bIns="0" rtlCol="0" anchor="t"/>
          <a:lstStyle/>
          <a:p>
            <a:pPr marL="0" indent="0">
              <a:buNone/>
            </a:pPr>
            <a:r>
              <a:rPr lang="en-US" sz="1400" dirty="0">
                <a:solidFill>
                  <a:srgbClr val="A9B8D4"/>
                </a:solidFill>
              </a:rPr>
              <a:t>LLM checks code against OWASP / CWE guidance</a:t>
            </a:r>
            <a:endParaRPr lang="en-US" sz="1400" dirty="0"/>
          </a:p>
        </p:txBody>
      </p:sp>
      <p:pic>
        <p:nvPicPr>
          <p:cNvPr id="37" name="Image 8" descr="preencoded.png"/>
          <p:cNvPicPr>
            <a:picLocks noChangeAspect="1"/>
          </p:cNvPicPr>
          <p:nvPr/>
        </p:nvPicPr>
        <p:blipFill>
          <a:blip r:embed="rId4"/>
          <a:stretch>
            <a:fillRect/>
          </a:stretch>
        </p:blipFill>
        <p:spPr>
          <a:xfrm>
            <a:off x="7680960" y="4800600"/>
            <a:ext cx="274320" cy="274320"/>
          </a:xfrm>
          <a:prstGeom prst="rect">
            <a:avLst/>
          </a:prstGeom>
        </p:spPr>
      </p:pic>
      <p:sp>
        <p:nvSpPr>
          <p:cNvPr id="38" name="Shape 26"/>
          <p:cNvSpPr/>
          <p:nvPr/>
        </p:nvSpPr>
        <p:spPr>
          <a:xfrm>
            <a:off x="8229600" y="3886200"/>
            <a:ext cx="3200400" cy="2103120"/>
          </a:xfrm>
          <a:prstGeom prst="roundRect">
            <a:avLst>
              <a:gd name="adj" fmla="val 5217"/>
            </a:avLst>
          </a:prstGeom>
          <a:solidFill>
            <a:srgbClr val="12213D"/>
          </a:solidFill>
          <a:ln w="25400">
            <a:solidFill>
              <a:srgbClr val="00E5FF"/>
            </a:solidFill>
            <a:prstDash val="solid"/>
          </a:ln>
        </p:spPr>
      </p:sp>
      <p:sp>
        <p:nvSpPr>
          <p:cNvPr id="39" name="Shape 27"/>
          <p:cNvSpPr/>
          <p:nvPr/>
        </p:nvSpPr>
        <p:spPr>
          <a:xfrm>
            <a:off x="8458200" y="4114800"/>
            <a:ext cx="640080" cy="640080"/>
          </a:xfrm>
          <a:prstGeom prst="ellipse">
            <a:avLst/>
          </a:prstGeom>
          <a:solidFill>
            <a:srgbClr val="00E5FF"/>
          </a:solidFill>
          <a:ln w="12700">
            <a:solidFill>
              <a:srgbClr val="00E5FF"/>
            </a:solidFill>
            <a:prstDash val="solid"/>
          </a:ln>
        </p:spPr>
      </p:sp>
      <p:sp>
        <p:nvSpPr>
          <p:cNvPr id="40" name="Text 28"/>
          <p:cNvSpPr txBox="1"/>
          <p:nvPr/>
        </p:nvSpPr>
        <p:spPr>
          <a:xfrm>
            <a:off x="8458200" y="4114800"/>
            <a:ext cx="640080" cy="640080"/>
          </a:xfrm>
          <a:prstGeom prst="rect">
            <a:avLst/>
          </a:prstGeom>
          <a:noFill/>
          <a:ln/>
        </p:spPr>
        <p:txBody>
          <a:bodyPr wrap="square" lIns="0" tIns="0" rIns="0" bIns="0" rtlCol="0" anchor="ctr"/>
          <a:lstStyle/>
          <a:p>
            <a:pPr marL="0" indent="0" algn="ctr">
              <a:buNone/>
            </a:pPr>
            <a:r>
              <a:rPr lang="en-US" sz="2200" b="1" dirty="0">
                <a:solidFill>
                  <a:srgbClr val="0B1426"/>
                </a:solidFill>
              </a:rPr>
              <a:t>6</a:t>
            </a:r>
            <a:endParaRPr lang="en-US" sz="2200" dirty="0"/>
          </a:p>
        </p:txBody>
      </p:sp>
      <p:pic>
        <p:nvPicPr>
          <p:cNvPr id="41" name="Image 9" descr="preencoded.png"/>
          <p:cNvPicPr>
            <a:picLocks noChangeAspect="1"/>
          </p:cNvPicPr>
          <p:nvPr/>
        </p:nvPicPr>
        <p:blipFill>
          <a:blip r:embed="rId9"/>
          <a:stretch>
            <a:fillRect/>
          </a:stretch>
        </p:blipFill>
        <p:spPr>
          <a:xfrm>
            <a:off x="10652760" y="4206240"/>
            <a:ext cx="457200" cy="457200"/>
          </a:xfrm>
          <a:prstGeom prst="rect">
            <a:avLst/>
          </a:prstGeom>
        </p:spPr>
      </p:pic>
      <p:sp>
        <p:nvSpPr>
          <p:cNvPr id="42" name="Text 29"/>
          <p:cNvSpPr txBox="1"/>
          <p:nvPr/>
        </p:nvSpPr>
        <p:spPr>
          <a:xfrm>
            <a:off x="8458200" y="4846320"/>
            <a:ext cx="2743200" cy="411480"/>
          </a:xfrm>
          <a:prstGeom prst="rect">
            <a:avLst/>
          </a:prstGeom>
          <a:noFill/>
          <a:ln/>
        </p:spPr>
        <p:txBody>
          <a:bodyPr wrap="square" lIns="0" tIns="0" rIns="0" bIns="0" rtlCol="0" anchor="ctr"/>
          <a:lstStyle/>
          <a:p>
            <a:pPr marL="0" indent="0">
              <a:buNone/>
            </a:pPr>
            <a:r>
              <a:rPr lang="en-US" sz="2000" b="1" dirty="0">
                <a:solidFill>
                  <a:srgbClr val="FFFFFF"/>
                </a:solidFill>
              </a:rPr>
              <a:t>Report</a:t>
            </a:r>
            <a:endParaRPr lang="en-US" sz="2000" dirty="0"/>
          </a:p>
        </p:txBody>
      </p:sp>
      <p:sp>
        <p:nvSpPr>
          <p:cNvPr id="43" name="Text 30"/>
          <p:cNvSpPr txBox="1"/>
          <p:nvPr/>
        </p:nvSpPr>
        <p:spPr>
          <a:xfrm>
            <a:off x="8458200" y="5257800"/>
            <a:ext cx="2743200" cy="685800"/>
          </a:xfrm>
          <a:prstGeom prst="rect">
            <a:avLst/>
          </a:prstGeom>
          <a:noFill/>
          <a:ln/>
        </p:spPr>
        <p:txBody>
          <a:bodyPr wrap="square" lIns="0" tIns="0" rIns="0" bIns="0" rtlCol="0" anchor="t"/>
          <a:lstStyle/>
          <a:p>
            <a:pPr marL="0" indent="0">
              <a:buNone/>
            </a:pPr>
            <a:r>
              <a:rPr lang="en-US" sz="1400" dirty="0">
                <a:solidFill>
                  <a:srgbClr val="A9B8D4"/>
                </a:solidFill>
              </a:rPr>
              <a:t>Findings, explanations and suggested fixes</a:t>
            </a:r>
            <a:endParaRPr lang="en-US" sz="1400" dirty="0"/>
          </a:p>
        </p:txBody>
      </p:sp>
      <p:sp>
        <p:nvSpPr>
          <p:cNvPr id="44" name="Shape 31"/>
          <p:cNvSpPr/>
          <p:nvPr/>
        </p:nvSpPr>
        <p:spPr>
          <a:xfrm>
            <a:off x="11338560" y="2468880"/>
            <a:ext cx="0" cy="0"/>
          </a:xfrm>
          <a:prstGeom prst="line">
            <a:avLst/>
          </a:prstGeom>
          <a:noFill/>
          <a:ln w="12700">
            <a:solidFill>
              <a:srgbClr val="0B1426"/>
            </a:solidFill>
            <a:prstDash val="solid"/>
          </a:ln>
        </p:spPr>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Expected Results and Advantages</a:t>
            </a:r>
            <a:endParaRPr lang="en-US" sz="3600" dirty="0"/>
          </a:p>
        </p:txBody>
      </p:sp>
      <p:sp>
        <p:nvSpPr>
          <p:cNvPr id="4" name="Shape 1"/>
          <p:cNvSpPr/>
          <p:nvPr/>
        </p:nvSpPr>
        <p:spPr>
          <a:xfrm>
            <a:off x="548640" y="1417320"/>
            <a:ext cx="3566160" cy="4206240"/>
          </a:xfrm>
          <a:prstGeom prst="roundRect">
            <a:avLst>
              <a:gd name="adj" fmla="val 3077"/>
            </a:avLst>
          </a:prstGeom>
          <a:solidFill>
            <a:srgbClr val="12213D"/>
          </a:solidFill>
          <a:ln w="12700">
            <a:solidFill>
              <a:srgbClr val="1B3A66"/>
            </a:solidFill>
            <a:prstDash val="solid"/>
          </a:ln>
        </p:spPr>
      </p:sp>
      <p:pic>
        <p:nvPicPr>
          <p:cNvPr id="5" name="Image 0" descr="preencoded.png"/>
          <p:cNvPicPr>
            <a:picLocks noChangeAspect="1"/>
          </p:cNvPicPr>
          <p:nvPr/>
        </p:nvPicPr>
        <p:blipFill>
          <a:blip r:embed="rId3"/>
          <a:stretch>
            <a:fillRect/>
          </a:stretch>
        </p:blipFill>
        <p:spPr>
          <a:xfrm>
            <a:off x="822960" y="1691640"/>
            <a:ext cx="457200" cy="457200"/>
          </a:xfrm>
          <a:prstGeom prst="rect">
            <a:avLst/>
          </a:prstGeom>
        </p:spPr>
      </p:pic>
      <p:sp>
        <p:nvSpPr>
          <p:cNvPr id="6" name="Text 2"/>
          <p:cNvSpPr txBox="1"/>
          <p:nvPr/>
        </p:nvSpPr>
        <p:spPr>
          <a:xfrm>
            <a:off x="1463040" y="1691640"/>
            <a:ext cx="2468880" cy="457200"/>
          </a:xfrm>
          <a:prstGeom prst="rect">
            <a:avLst/>
          </a:prstGeom>
          <a:noFill/>
          <a:ln/>
        </p:spPr>
        <p:txBody>
          <a:bodyPr wrap="square" lIns="0" tIns="0" rIns="0" bIns="0" rtlCol="0" anchor="ctr"/>
          <a:lstStyle/>
          <a:p>
            <a:pPr marL="0" indent="0">
              <a:buNone/>
            </a:pPr>
            <a:r>
              <a:rPr lang="en-US" sz="2000" b="1" dirty="0">
                <a:solidFill>
                  <a:srgbClr val="FFFFFF"/>
                </a:solidFill>
              </a:rPr>
              <a:t>Expected Output</a:t>
            </a:r>
            <a:endParaRPr lang="en-US" sz="2000" dirty="0"/>
          </a:p>
        </p:txBody>
      </p:sp>
      <p:sp>
        <p:nvSpPr>
          <p:cNvPr id="7" name="Text 3"/>
          <p:cNvSpPr txBox="1"/>
          <p:nvPr/>
        </p:nvSpPr>
        <p:spPr>
          <a:xfrm>
            <a:off x="822960" y="2468880"/>
            <a:ext cx="3108960" cy="2926080"/>
          </a:xfrm>
          <a:prstGeom prst="rect">
            <a:avLst/>
          </a:prstGeom>
          <a:noFill/>
          <a:ln/>
        </p:spPr>
        <p:txBody>
          <a:bodyPr wrap="square" rtlCol="0" anchor="t"/>
          <a:lstStyle/>
          <a:p>
            <a:pPr marL="342900" indent="-342900">
              <a:spcAft>
                <a:spcPts val="1200"/>
              </a:spcAft>
              <a:buSzPct val="100000"/>
              <a:buChar char="•"/>
            </a:pPr>
            <a:r>
              <a:rPr lang="en-US" sz="1600" dirty="0">
                <a:solidFill>
                  <a:srgbClr val="A9B8D4"/>
                </a:solidFill>
              </a:rPr>
              <a:t>Potentially vulnerable code locations</a:t>
            </a:r>
            <a:endParaRPr lang="en-US" sz="1600" dirty="0"/>
          </a:p>
          <a:p>
            <a:pPr marL="342900" indent="-342900">
              <a:spcAft>
                <a:spcPts val="1200"/>
              </a:spcAft>
              <a:buSzPct val="100000"/>
              <a:buChar char="•"/>
            </a:pPr>
            <a:r>
              <a:rPr lang="en-US" sz="1600" dirty="0">
                <a:solidFill>
                  <a:srgbClr val="A9B8D4"/>
                </a:solidFill>
              </a:rPr>
              <a:t>Plain-language risk explanation</a:t>
            </a:r>
            <a:endParaRPr lang="en-US" sz="1600" dirty="0"/>
          </a:p>
          <a:p>
            <a:pPr marL="342900" indent="-342900">
              <a:spcAft>
                <a:spcPts val="1200"/>
              </a:spcAft>
              <a:buSzPct val="100000"/>
              <a:buChar char="•"/>
            </a:pPr>
            <a:r>
              <a:rPr lang="en-US" sz="1600" dirty="0">
                <a:solidFill>
                  <a:srgbClr val="A9B8D4"/>
                </a:solidFill>
              </a:rPr>
              <a:t>OWASP / CWE references</a:t>
            </a:r>
            <a:endParaRPr lang="en-US" sz="1600" dirty="0"/>
          </a:p>
          <a:p>
            <a:pPr marL="342900" indent="-342900">
              <a:spcAft>
                <a:spcPts val="1200"/>
              </a:spcAft>
              <a:buSzPct val="100000"/>
              <a:buChar char="•"/>
            </a:pPr>
            <a:r>
              <a:rPr lang="en-US" sz="1600" dirty="0">
                <a:solidFill>
                  <a:srgbClr val="A9B8D4"/>
                </a:solidFill>
              </a:rPr>
              <a:t>Suggested fixes for review</a:t>
            </a:r>
            <a:endParaRPr lang="en-US" sz="1600" dirty="0"/>
          </a:p>
        </p:txBody>
      </p:sp>
      <p:sp>
        <p:nvSpPr>
          <p:cNvPr id="8" name="Shape 4"/>
          <p:cNvSpPr/>
          <p:nvPr/>
        </p:nvSpPr>
        <p:spPr>
          <a:xfrm>
            <a:off x="4343400" y="1417320"/>
            <a:ext cx="3566160" cy="4206240"/>
          </a:xfrm>
          <a:prstGeom prst="roundRect">
            <a:avLst>
              <a:gd name="adj" fmla="val 3077"/>
            </a:avLst>
          </a:prstGeom>
          <a:solidFill>
            <a:srgbClr val="12213D"/>
          </a:solidFill>
          <a:ln w="12700">
            <a:solidFill>
              <a:srgbClr val="1B3A66"/>
            </a:solidFill>
            <a:prstDash val="solid"/>
          </a:ln>
        </p:spPr>
      </p:sp>
      <p:pic>
        <p:nvPicPr>
          <p:cNvPr id="9" name="Image 1" descr="preencoded.png"/>
          <p:cNvPicPr>
            <a:picLocks noChangeAspect="1"/>
          </p:cNvPicPr>
          <p:nvPr/>
        </p:nvPicPr>
        <p:blipFill>
          <a:blip r:embed="rId4"/>
          <a:stretch>
            <a:fillRect/>
          </a:stretch>
        </p:blipFill>
        <p:spPr>
          <a:xfrm>
            <a:off x="4617720" y="1691640"/>
            <a:ext cx="457200" cy="457200"/>
          </a:xfrm>
          <a:prstGeom prst="rect">
            <a:avLst/>
          </a:prstGeom>
        </p:spPr>
      </p:pic>
      <p:sp>
        <p:nvSpPr>
          <p:cNvPr id="10" name="Text 5"/>
          <p:cNvSpPr txBox="1"/>
          <p:nvPr/>
        </p:nvSpPr>
        <p:spPr>
          <a:xfrm>
            <a:off x="5257800" y="1691640"/>
            <a:ext cx="2468880" cy="457200"/>
          </a:xfrm>
          <a:prstGeom prst="rect">
            <a:avLst/>
          </a:prstGeom>
          <a:noFill/>
          <a:ln/>
        </p:spPr>
        <p:txBody>
          <a:bodyPr wrap="square" lIns="0" tIns="0" rIns="0" bIns="0" rtlCol="0" anchor="ctr"/>
          <a:lstStyle/>
          <a:p>
            <a:pPr marL="0" indent="0">
              <a:buNone/>
            </a:pPr>
            <a:r>
              <a:rPr lang="en-US" sz="2000" b="1" dirty="0">
                <a:solidFill>
                  <a:srgbClr val="FFFFFF"/>
                </a:solidFill>
              </a:rPr>
              <a:t>Advantages</a:t>
            </a:r>
            <a:endParaRPr lang="en-US" sz="2000" dirty="0"/>
          </a:p>
        </p:txBody>
      </p:sp>
      <p:sp>
        <p:nvSpPr>
          <p:cNvPr id="11" name="Text 6"/>
          <p:cNvSpPr txBox="1"/>
          <p:nvPr/>
        </p:nvSpPr>
        <p:spPr>
          <a:xfrm>
            <a:off x="4617720" y="2468880"/>
            <a:ext cx="3108960" cy="2926080"/>
          </a:xfrm>
          <a:prstGeom prst="rect">
            <a:avLst/>
          </a:prstGeom>
          <a:noFill/>
          <a:ln/>
        </p:spPr>
        <p:txBody>
          <a:bodyPr wrap="square" rtlCol="0" anchor="t"/>
          <a:lstStyle/>
          <a:p>
            <a:pPr marL="342900" indent="-342900">
              <a:spcAft>
                <a:spcPts val="1200"/>
              </a:spcAft>
              <a:buSzPct val="100000"/>
              <a:buChar char="•"/>
            </a:pPr>
            <a:r>
              <a:rPr lang="en-US" sz="1600" dirty="0">
                <a:solidFill>
                  <a:srgbClr val="A9B8D4"/>
                </a:solidFill>
              </a:rPr>
              <a:t>Beginner-friendly explanations</a:t>
            </a:r>
            <a:endParaRPr lang="en-US" sz="1600" dirty="0"/>
          </a:p>
          <a:p>
            <a:pPr marL="342900" indent="-342900">
              <a:spcAft>
                <a:spcPts val="1200"/>
              </a:spcAft>
              <a:buSzPct val="100000"/>
              <a:buChar char="•"/>
            </a:pPr>
            <a:r>
              <a:rPr lang="en-US" sz="1600" dirty="0">
                <a:solidFill>
                  <a:srgbClr val="A9B8D4"/>
                </a:solidFill>
              </a:rPr>
              <a:t>Faster first-pass security review</a:t>
            </a:r>
            <a:endParaRPr lang="en-US" sz="1600" dirty="0"/>
          </a:p>
          <a:p>
            <a:pPr marL="342900" indent="-342900">
              <a:spcAft>
                <a:spcPts val="1200"/>
              </a:spcAft>
              <a:buSzPct val="100000"/>
              <a:buChar char="•"/>
            </a:pPr>
            <a:r>
              <a:rPr lang="en-US" sz="1600" dirty="0">
                <a:solidFill>
                  <a:srgbClr val="A9B8D4"/>
                </a:solidFill>
              </a:rPr>
              <a:t>Context beyond fixed rules</a:t>
            </a:r>
            <a:endParaRPr lang="en-US" sz="1600" dirty="0"/>
          </a:p>
          <a:p>
            <a:pPr marL="342900" indent="-342900">
              <a:spcAft>
                <a:spcPts val="1200"/>
              </a:spcAft>
              <a:buSzPct val="100000"/>
              <a:buChar char="•"/>
            </a:pPr>
            <a:r>
              <a:rPr lang="en-US" sz="1600" dirty="0">
                <a:solidFill>
                  <a:srgbClr val="A9B8D4"/>
                </a:solidFill>
              </a:rPr>
              <a:t>Simple API-based access</a:t>
            </a:r>
            <a:endParaRPr lang="en-US" sz="1600" dirty="0"/>
          </a:p>
        </p:txBody>
      </p:sp>
      <p:sp>
        <p:nvSpPr>
          <p:cNvPr id="12" name="Shape 7"/>
          <p:cNvSpPr/>
          <p:nvPr/>
        </p:nvSpPr>
        <p:spPr>
          <a:xfrm>
            <a:off x="8138160" y="1417320"/>
            <a:ext cx="3566160" cy="4206240"/>
          </a:xfrm>
          <a:prstGeom prst="roundRect">
            <a:avLst>
              <a:gd name="adj" fmla="val 3077"/>
            </a:avLst>
          </a:prstGeom>
          <a:solidFill>
            <a:srgbClr val="12213D"/>
          </a:solidFill>
          <a:ln w="12700">
            <a:solidFill>
              <a:srgbClr val="1B3A66"/>
            </a:solidFill>
            <a:prstDash val="solid"/>
          </a:ln>
        </p:spPr>
      </p:sp>
      <p:pic>
        <p:nvPicPr>
          <p:cNvPr id="13" name="Image 2" descr="preencoded.png"/>
          <p:cNvPicPr>
            <a:picLocks noChangeAspect="1"/>
          </p:cNvPicPr>
          <p:nvPr/>
        </p:nvPicPr>
        <p:blipFill>
          <a:blip r:embed="rId5"/>
          <a:stretch>
            <a:fillRect/>
          </a:stretch>
        </p:blipFill>
        <p:spPr>
          <a:xfrm>
            <a:off x="8412480" y="1691640"/>
            <a:ext cx="457200" cy="457200"/>
          </a:xfrm>
          <a:prstGeom prst="rect">
            <a:avLst/>
          </a:prstGeom>
        </p:spPr>
      </p:pic>
      <p:sp>
        <p:nvSpPr>
          <p:cNvPr id="14" name="Text 8"/>
          <p:cNvSpPr txBox="1"/>
          <p:nvPr/>
        </p:nvSpPr>
        <p:spPr>
          <a:xfrm>
            <a:off x="9052560" y="1691640"/>
            <a:ext cx="2468880" cy="457200"/>
          </a:xfrm>
          <a:prstGeom prst="rect">
            <a:avLst/>
          </a:prstGeom>
          <a:noFill/>
          <a:ln/>
        </p:spPr>
        <p:txBody>
          <a:bodyPr wrap="square" lIns="0" tIns="0" rIns="0" bIns="0" rtlCol="0" anchor="ctr"/>
          <a:lstStyle/>
          <a:p>
            <a:pPr marL="0" indent="0">
              <a:buNone/>
            </a:pPr>
            <a:r>
              <a:rPr lang="en-US" sz="2000" b="1" dirty="0">
                <a:solidFill>
                  <a:srgbClr val="FFFFFF"/>
                </a:solidFill>
              </a:rPr>
              <a:t>Applications</a:t>
            </a:r>
            <a:endParaRPr lang="en-US" sz="2000" dirty="0"/>
          </a:p>
        </p:txBody>
      </p:sp>
      <p:sp>
        <p:nvSpPr>
          <p:cNvPr id="15" name="Text 9"/>
          <p:cNvSpPr txBox="1"/>
          <p:nvPr/>
        </p:nvSpPr>
        <p:spPr>
          <a:xfrm>
            <a:off x="8412480" y="2468880"/>
            <a:ext cx="3108960" cy="2926080"/>
          </a:xfrm>
          <a:prstGeom prst="rect">
            <a:avLst/>
          </a:prstGeom>
          <a:noFill/>
          <a:ln/>
        </p:spPr>
        <p:txBody>
          <a:bodyPr wrap="square" rtlCol="0" anchor="t"/>
          <a:lstStyle/>
          <a:p>
            <a:pPr marL="342900" indent="-342900">
              <a:spcAft>
                <a:spcPts val="1200"/>
              </a:spcAft>
              <a:buSzPct val="100000"/>
              <a:buChar char="•"/>
            </a:pPr>
            <a:r>
              <a:rPr lang="en-US" sz="1600" dirty="0">
                <a:solidFill>
                  <a:srgbClr val="A9B8D4"/>
                </a:solidFill>
              </a:rPr>
              <a:t>Student and academic projects</a:t>
            </a:r>
            <a:endParaRPr lang="en-US" sz="1600" dirty="0"/>
          </a:p>
          <a:p>
            <a:pPr marL="342900" indent="-342900">
              <a:spcAft>
                <a:spcPts val="1200"/>
              </a:spcAft>
              <a:buSzPct val="100000"/>
              <a:buChar char="•"/>
            </a:pPr>
            <a:r>
              <a:rPr lang="en-US" sz="1600" dirty="0">
                <a:solidFill>
                  <a:srgbClr val="A9B8D4"/>
                </a:solidFill>
              </a:rPr>
              <a:t>Open-source repo screening</a:t>
            </a:r>
            <a:endParaRPr lang="en-US" sz="1600" dirty="0"/>
          </a:p>
          <a:p>
            <a:pPr marL="342900" indent="-342900">
              <a:spcAft>
                <a:spcPts val="1200"/>
              </a:spcAft>
              <a:buSzPct val="100000"/>
              <a:buChar char="•"/>
            </a:pPr>
            <a:r>
              <a:rPr lang="en-US" sz="1600" dirty="0">
                <a:solidFill>
                  <a:srgbClr val="A9B8D4"/>
                </a:solidFill>
              </a:rPr>
              <a:t>Secure-coding training</a:t>
            </a:r>
            <a:endParaRPr lang="en-US" sz="1600" dirty="0"/>
          </a:p>
          <a:p>
            <a:pPr marL="342900" indent="-342900">
              <a:spcAft>
                <a:spcPts val="1200"/>
              </a:spcAft>
              <a:buSzPct val="100000"/>
              <a:buChar char="•"/>
            </a:pPr>
            <a:r>
              <a:rPr lang="en-US" sz="1600" dirty="0">
                <a:solidFill>
                  <a:srgbClr val="A9B8D4"/>
                </a:solidFill>
              </a:rPr>
              <a:t>Developer pre-review aid</a:t>
            </a:r>
            <a:endParaRPr lang="en-US" sz="1600" dirty="0"/>
          </a:p>
        </p:txBody>
      </p:sp>
      <p:sp>
        <p:nvSpPr>
          <p:cNvPr id="16" name="Text 10"/>
          <p:cNvSpPr txBox="1"/>
          <p:nvPr/>
        </p:nvSpPr>
        <p:spPr>
          <a:xfrm>
            <a:off x="548640" y="5806440"/>
            <a:ext cx="10972800" cy="365760"/>
          </a:xfrm>
          <a:prstGeom prst="rect">
            <a:avLst/>
          </a:prstGeom>
          <a:noFill/>
          <a:ln/>
        </p:spPr>
        <p:txBody>
          <a:bodyPr wrap="square" lIns="0" tIns="0" rIns="0" bIns="0" rtlCol="0" anchor="ctr"/>
          <a:lstStyle/>
          <a:p>
            <a:pPr marL="0" indent="0">
              <a:buNone/>
            </a:pPr>
            <a:r>
              <a:rPr lang="en-US" sz="1300" i="1" dirty="0">
                <a:solidFill>
                  <a:srgbClr val="FFB020"/>
                </a:solidFill>
              </a:rPr>
              <a:t>Expected outcomes only. Accuracy and performance will be evaluated and reported after testing.</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Future Enhancements</a:t>
            </a:r>
            <a:endParaRPr lang="en-US" sz="3600" dirty="0"/>
          </a:p>
        </p:txBody>
      </p:sp>
      <p:sp>
        <p:nvSpPr>
          <p:cNvPr id="4" name="Shape 1"/>
          <p:cNvSpPr/>
          <p:nvPr/>
        </p:nvSpPr>
        <p:spPr>
          <a:xfrm>
            <a:off x="548640" y="1463040"/>
            <a:ext cx="5394960" cy="2103120"/>
          </a:xfrm>
          <a:prstGeom prst="roundRect">
            <a:avLst>
              <a:gd name="adj" fmla="val 5217"/>
            </a:avLst>
          </a:prstGeom>
          <a:solidFill>
            <a:srgbClr val="12213D"/>
          </a:solidFill>
          <a:ln w="12700">
            <a:solidFill>
              <a:srgbClr val="FFB020"/>
            </a:solidFill>
            <a:prstDash val="solid"/>
          </a:ln>
        </p:spPr>
      </p:sp>
      <p:sp>
        <p:nvSpPr>
          <p:cNvPr id="5" name="Shape 2"/>
          <p:cNvSpPr/>
          <p:nvPr/>
        </p:nvSpPr>
        <p:spPr>
          <a:xfrm>
            <a:off x="777240" y="1691640"/>
            <a:ext cx="640080" cy="640080"/>
          </a:xfrm>
          <a:prstGeom prst="ellipse">
            <a:avLst/>
          </a:prstGeom>
          <a:solidFill>
            <a:srgbClr val="1B3A66"/>
          </a:solidFill>
          <a:ln w="12700">
            <a:solidFill>
              <a:srgbClr val="00E5FF"/>
            </a:solidFill>
            <a:prstDash val="solid"/>
          </a:ln>
        </p:spPr>
      </p:sp>
      <p:pic>
        <p:nvPicPr>
          <p:cNvPr id="6" name="Image 0" descr="preencoded.png"/>
          <p:cNvPicPr>
            <a:picLocks noChangeAspect="1"/>
          </p:cNvPicPr>
          <p:nvPr/>
        </p:nvPicPr>
        <p:blipFill>
          <a:blip r:embed="rId3"/>
          <a:stretch>
            <a:fillRect/>
          </a:stretch>
        </p:blipFill>
        <p:spPr>
          <a:xfrm>
            <a:off x="941832" y="1856232"/>
            <a:ext cx="310896" cy="310896"/>
          </a:xfrm>
          <a:prstGeom prst="rect">
            <a:avLst/>
          </a:prstGeom>
        </p:spPr>
      </p:pic>
      <p:sp>
        <p:nvSpPr>
          <p:cNvPr id="7" name="Text 3"/>
          <p:cNvSpPr txBox="1"/>
          <p:nvPr/>
        </p:nvSpPr>
        <p:spPr>
          <a:xfrm>
            <a:off x="1554480" y="164592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Automated Fix Generation</a:t>
            </a:r>
            <a:endParaRPr lang="en-US" sz="1800" dirty="0"/>
          </a:p>
        </p:txBody>
      </p:sp>
      <p:sp>
        <p:nvSpPr>
          <p:cNvPr id="8" name="Text 4"/>
          <p:cNvSpPr txBox="1"/>
          <p:nvPr/>
        </p:nvSpPr>
        <p:spPr>
          <a:xfrm>
            <a:off x="1554480" y="2057400"/>
            <a:ext cx="4206240" cy="1371600"/>
          </a:xfrm>
          <a:prstGeom prst="rect">
            <a:avLst/>
          </a:prstGeom>
          <a:noFill/>
          <a:ln/>
        </p:spPr>
        <p:txBody>
          <a:bodyPr wrap="square" lIns="0" tIns="0" rIns="0" bIns="0" rtlCol="0" anchor="t"/>
          <a:lstStyle/>
          <a:p>
            <a:pPr marL="0" indent="0">
              <a:buNone/>
            </a:pPr>
            <a:r>
              <a:rPr lang="en-US" sz="1400" dirty="0">
                <a:solidFill>
                  <a:srgbClr val="A9B8D4"/>
                </a:solidFill>
              </a:rPr>
              <a:t>Generate patch suggestions for review</a:t>
            </a:r>
            <a:endParaRPr lang="en-US" sz="1400" dirty="0"/>
          </a:p>
        </p:txBody>
      </p:sp>
      <p:sp>
        <p:nvSpPr>
          <p:cNvPr id="9" name="Text 5"/>
          <p:cNvSpPr txBox="1"/>
          <p:nvPr/>
        </p:nvSpPr>
        <p:spPr>
          <a:xfrm>
            <a:off x="4800600" y="1554480"/>
            <a:ext cx="1005840" cy="256032"/>
          </a:xfrm>
          <a:prstGeom prst="rect">
            <a:avLst/>
          </a:prstGeom>
          <a:solidFill>
            <a:srgbClr val="2A2410"/>
          </a:solidFill>
          <a:ln w="12700">
            <a:solidFill>
              <a:srgbClr val="FFB020"/>
            </a:solidFill>
          </a:ln>
        </p:spPr>
        <p:txBody>
          <a:bodyPr wrap="square" rtlCol="0" anchor="ctr"/>
          <a:lstStyle/>
          <a:p>
            <a:pPr marL="0" indent="0" algn="ctr">
              <a:buNone/>
            </a:pPr>
            <a:r>
              <a:rPr lang="en-US" sz="1000" b="1" dirty="0">
                <a:solidFill>
                  <a:srgbClr val="FFB020"/>
                </a:solidFill>
              </a:rPr>
              <a:t>PLANNED</a:t>
            </a:r>
            <a:endParaRPr lang="en-US" sz="1000" dirty="0"/>
          </a:p>
        </p:txBody>
      </p:sp>
      <p:sp>
        <p:nvSpPr>
          <p:cNvPr id="10" name="Shape 6"/>
          <p:cNvSpPr/>
          <p:nvPr/>
        </p:nvSpPr>
        <p:spPr>
          <a:xfrm>
            <a:off x="6217920" y="1463040"/>
            <a:ext cx="5394960" cy="2103120"/>
          </a:xfrm>
          <a:prstGeom prst="roundRect">
            <a:avLst>
              <a:gd name="adj" fmla="val 5217"/>
            </a:avLst>
          </a:prstGeom>
          <a:solidFill>
            <a:srgbClr val="12213D"/>
          </a:solidFill>
          <a:ln w="12700">
            <a:solidFill>
              <a:srgbClr val="FFB020"/>
            </a:solidFill>
            <a:prstDash val="solid"/>
          </a:ln>
        </p:spPr>
      </p:sp>
      <p:sp>
        <p:nvSpPr>
          <p:cNvPr id="11" name="Shape 7"/>
          <p:cNvSpPr/>
          <p:nvPr/>
        </p:nvSpPr>
        <p:spPr>
          <a:xfrm>
            <a:off x="6446520" y="1691640"/>
            <a:ext cx="640080" cy="640080"/>
          </a:xfrm>
          <a:prstGeom prst="ellipse">
            <a:avLst/>
          </a:prstGeom>
          <a:solidFill>
            <a:srgbClr val="1B3A66"/>
          </a:solidFill>
          <a:ln w="12700">
            <a:solidFill>
              <a:srgbClr val="00E5FF"/>
            </a:solidFill>
            <a:prstDash val="solid"/>
          </a:ln>
        </p:spPr>
      </p:sp>
      <p:pic>
        <p:nvPicPr>
          <p:cNvPr id="12" name="Image 1" descr="preencoded.png"/>
          <p:cNvPicPr>
            <a:picLocks noChangeAspect="1"/>
          </p:cNvPicPr>
          <p:nvPr/>
        </p:nvPicPr>
        <p:blipFill>
          <a:blip r:embed="rId4"/>
          <a:stretch>
            <a:fillRect/>
          </a:stretch>
        </p:blipFill>
        <p:spPr>
          <a:xfrm>
            <a:off x="6611112" y="1856232"/>
            <a:ext cx="310896" cy="310896"/>
          </a:xfrm>
          <a:prstGeom prst="rect">
            <a:avLst/>
          </a:prstGeom>
        </p:spPr>
      </p:pic>
      <p:sp>
        <p:nvSpPr>
          <p:cNvPr id="13" name="Text 8"/>
          <p:cNvSpPr txBox="1"/>
          <p:nvPr/>
        </p:nvSpPr>
        <p:spPr>
          <a:xfrm>
            <a:off x="7223760" y="164592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CI/CD Integration</a:t>
            </a:r>
            <a:endParaRPr lang="en-US" sz="1800" dirty="0"/>
          </a:p>
        </p:txBody>
      </p:sp>
      <p:sp>
        <p:nvSpPr>
          <p:cNvPr id="14" name="Text 9"/>
          <p:cNvSpPr txBox="1"/>
          <p:nvPr/>
        </p:nvSpPr>
        <p:spPr>
          <a:xfrm>
            <a:off x="7223760" y="2057400"/>
            <a:ext cx="4206240" cy="1371600"/>
          </a:xfrm>
          <a:prstGeom prst="rect">
            <a:avLst/>
          </a:prstGeom>
          <a:noFill/>
          <a:ln/>
        </p:spPr>
        <p:txBody>
          <a:bodyPr wrap="square" lIns="0" tIns="0" rIns="0" bIns="0" rtlCol="0" anchor="t"/>
          <a:lstStyle/>
          <a:p>
            <a:pPr marL="0" indent="0">
              <a:buNone/>
            </a:pPr>
            <a:r>
              <a:rPr lang="en-US" sz="1400" dirty="0">
                <a:solidFill>
                  <a:srgbClr val="A9B8D4"/>
                </a:solidFill>
              </a:rPr>
              <a:t>Scan automatically on commits and pull requests</a:t>
            </a:r>
            <a:endParaRPr lang="en-US" sz="1400" dirty="0"/>
          </a:p>
        </p:txBody>
      </p:sp>
      <p:sp>
        <p:nvSpPr>
          <p:cNvPr id="15" name="Text 10"/>
          <p:cNvSpPr txBox="1"/>
          <p:nvPr/>
        </p:nvSpPr>
        <p:spPr>
          <a:xfrm>
            <a:off x="10469880" y="1554480"/>
            <a:ext cx="1005840" cy="256032"/>
          </a:xfrm>
          <a:prstGeom prst="rect">
            <a:avLst/>
          </a:prstGeom>
          <a:solidFill>
            <a:srgbClr val="2A2410"/>
          </a:solidFill>
          <a:ln w="12700">
            <a:solidFill>
              <a:srgbClr val="FFB020"/>
            </a:solidFill>
          </a:ln>
        </p:spPr>
        <p:txBody>
          <a:bodyPr wrap="square" rtlCol="0" anchor="ctr"/>
          <a:lstStyle/>
          <a:p>
            <a:pPr marL="0" indent="0" algn="ctr">
              <a:buNone/>
            </a:pPr>
            <a:r>
              <a:rPr lang="en-US" sz="1000" b="1" dirty="0">
                <a:solidFill>
                  <a:srgbClr val="FFB020"/>
                </a:solidFill>
              </a:rPr>
              <a:t>PLANNED</a:t>
            </a:r>
            <a:endParaRPr lang="en-US" sz="1000" dirty="0"/>
          </a:p>
        </p:txBody>
      </p:sp>
      <p:sp>
        <p:nvSpPr>
          <p:cNvPr id="16" name="Shape 11"/>
          <p:cNvSpPr/>
          <p:nvPr/>
        </p:nvSpPr>
        <p:spPr>
          <a:xfrm>
            <a:off x="548640" y="3840480"/>
            <a:ext cx="5394960" cy="2103120"/>
          </a:xfrm>
          <a:prstGeom prst="roundRect">
            <a:avLst>
              <a:gd name="adj" fmla="val 5217"/>
            </a:avLst>
          </a:prstGeom>
          <a:solidFill>
            <a:srgbClr val="12213D"/>
          </a:solidFill>
          <a:ln w="12700">
            <a:solidFill>
              <a:srgbClr val="FFB020"/>
            </a:solidFill>
            <a:prstDash val="solid"/>
          </a:ln>
        </p:spPr>
      </p:sp>
      <p:sp>
        <p:nvSpPr>
          <p:cNvPr id="17" name="Shape 12"/>
          <p:cNvSpPr/>
          <p:nvPr/>
        </p:nvSpPr>
        <p:spPr>
          <a:xfrm>
            <a:off x="777240" y="4069080"/>
            <a:ext cx="640080" cy="640080"/>
          </a:xfrm>
          <a:prstGeom prst="ellipse">
            <a:avLst/>
          </a:prstGeom>
          <a:solidFill>
            <a:srgbClr val="1B3A66"/>
          </a:solidFill>
          <a:ln w="12700">
            <a:solidFill>
              <a:srgbClr val="00E5FF"/>
            </a:solidFill>
            <a:prstDash val="solid"/>
          </a:ln>
        </p:spPr>
      </p:sp>
      <p:pic>
        <p:nvPicPr>
          <p:cNvPr id="18" name="Image 2" descr="preencoded.png"/>
          <p:cNvPicPr>
            <a:picLocks noChangeAspect="1"/>
          </p:cNvPicPr>
          <p:nvPr/>
        </p:nvPicPr>
        <p:blipFill>
          <a:blip r:embed="rId5"/>
          <a:stretch>
            <a:fillRect/>
          </a:stretch>
        </p:blipFill>
        <p:spPr>
          <a:xfrm>
            <a:off x="941832" y="4233672"/>
            <a:ext cx="310896" cy="310896"/>
          </a:xfrm>
          <a:prstGeom prst="rect">
            <a:avLst/>
          </a:prstGeom>
        </p:spPr>
      </p:pic>
      <p:sp>
        <p:nvSpPr>
          <p:cNvPr id="19" name="Text 13"/>
          <p:cNvSpPr txBox="1"/>
          <p:nvPr/>
        </p:nvSpPr>
        <p:spPr>
          <a:xfrm>
            <a:off x="1554480" y="402336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Multi-Language Support</a:t>
            </a:r>
            <a:endParaRPr lang="en-US" sz="1800" dirty="0"/>
          </a:p>
        </p:txBody>
      </p:sp>
      <p:sp>
        <p:nvSpPr>
          <p:cNvPr id="20" name="Text 14"/>
          <p:cNvSpPr txBox="1"/>
          <p:nvPr/>
        </p:nvSpPr>
        <p:spPr>
          <a:xfrm>
            <a:off x="1554480" y="4434840"/>
            <a:ext cx="4206240" cy="1371600"/>
          </a:xfrm>
          <a:prstGeom prst="rect">
            <a:avLst/>
          </a:prstGeom>
          <a:noFill/>
          <a:ln/>
        </p:spPr>
        <p:txBody>
          <a:bodyPr wrap="square" lIns="0" tIns="0" rIns="0" bIns="0" rtlCol="0" anchor="t"/>
          <a:lstStyle/>
          <a:p>
            <a:pPr marL="0" indent="0">
              <a:buNone/>
            </a:pPr>
            <a:r>
              <a:rPr lang="en-US" sz="1400" dirty="0">
                <a:solidFill>
                  <a:srgbClr val="A9B8D4"/>
                </a:solidFill>
              </a:rPr>
              <a:t>Extend parsing beyond the first supported language</a:t>
            </a:r>
            <a:endParaRPr lang="en-US" sz="1400" dirty="0"/>
          </a:p>
        </p:txBody>
      </p:sp>
      <p:sp>
        <p:nvSpPr>
          <p:cNvPr id="21" name="Text 15"/>
          <p:cNvSpPr txBox="1"/>
          <p:nvPr/>
        </p:nvSpPr>
        <p:spPr>
          <a:xfrm>
            <a:off x="4800600" y="3931920"/>
            <a:ext cx="1005840" cy="256032"/>
          </a:xfrm>
          <a:prstGeom prst="rect">
            <a:avLst/>
          </a:prstGeom>
          <a:solidFill>
            <a:srgbClr val="2A2410"/>
          </a:solidFill>
          <a:ln w="12700">
            <a:solidFill>
              <a:srgbClr val="FFB020"/>
            </a:solidFill>
          </a:ln>
        </p:spPr>
        <p:txBody>
          <a:bodyPr wrap="square" rtlCol="0" anchor="ctr"/>
          <a:lstStyle/>
          <a:p>
            <a:pPr marL="0" indent="0" algn="ctr">
              <a:buNone/>
            </a:pPr>
            <a:r>
              <a:rPr lang="en-US" sz="1000" b="1" dirty="0">
                <a:solidFill>
                  <a:srgbClr val="FFB020"/>
                </a:solidFill>
              </a:rPr>
              <a:t>PLANNED</a:t>
            </a:r>
            <a:endParaRPr lang="en-US" sz="1000" dirty="0"/>
          </a:p>
        </p:txBody>
      </p:sp>
      <p:sp>
        <p:nvSpPr>
          <p:cNvPr id="22" name="Shape 16"/>
          <p:cNvSpPr/>
          <p:nvPr/>
        </p:nvSpPr>
        <p:spPr>
          <a:xfrm>
            <a:off x="6217920" y="3840480"/>
            <a:ext cx="5394960" cy="2103120"/>
          </a:xfrm>
          <a:prstGeom prst="roundRect">
            <a:avLst>
              <a:gd name="adj" fmla="val 5217"/>
            </a:avLst>
          </a:prstGeom>
          <a:solidFill>
            <a:srgbClr val="12213D"/>
          </a:solidFill>
          <a:ln w="12700">
            <a:solidFill>
              <a:srgbClr val="FFB020"/>
            </a:solidFill>
            <a:prstDash val="solid"/>
          </a:ln>
        </p:spPr>
      </p:sp>
      <p:sp>
        <p:nvSpPr>
          <p:cNvPr id="23" name="Shape 17"/>
          <p:cNvSpPr/>
          <p:nvPr/>
        </p:nvSpPr>
        <p:spPr>
          <a:xfrm>
            <a:off x="6446520" y="4069080"/>
            <a:ext cx="640080" cy="640080"/>
          </a:xfrm>
          <a:prstGeom prst="ellipse">
            <a:avLst/>
          </a:prstGeom>
          <a:solidFill>
            <a:srgbClr val="1B3A66"/>
          </a:solidFill>
          <a:ln w="12700">
            <a:solidFill>
              <a:srgbClr val="00E5FF"/>
            </a:solidFill>
            <a:prstDash val="solid"/>
          </a:ln>
        </p:spPr>
      </p:sp>
      <p:pic>
        <p:nvPicPr>
          <p:cNvPr id="24" name="Image 3" descr="preencoded.png"/>
          <p:cNvPicPr>
            <a:picLocks noChangeAspect="1"/>
          </p:cNvPicPr>
          <p:nvPr/>
        </p:nvPicPr>
        <p:blipFill>
          <a:blip r:embed="rId6"/>
          <a:stretch>
            <a:fillRect/>
          </a:stretch>
        </p:blipFill>
        <p:spPr>
          <a:xfrm>
            <a:off x="6611112" y="4233672"/>
            <a:ext cx="310896" cy="310896"/>
          </a:xfrm>
          <a:prstGeom prst="rect">
            <a:avLst/>
          </a:prstGeom>
        </p:spPr>
      </p:pic>
      <p:sp>
        <p:nvSpPr>
          <p:cNvPr id="25" name="Text 18"/>
          <p:cNvSpPr txBox="1"/>
          <p:nvPr/>
        </p:nvSpPr>
        <p:spPr>
          <a:xfrm>
            <a:off x="7223760" y="4023360"/>
            <a:ext cx="4206240" cy="411480"/>
          </a:xfrm>
          <a:prstGeom prst="rect">
            <a:avLst/>
          </a:prstGeom>
          <a:noFill/>
          <a:ln/>
        </p:spPr>
        <p:txBody>
          <a:bodyPr wrap="square" lIns="0" tIns="0" rIns="0" bIns="0" rtlCol="0" anchor="ctr"/>
          <a:lstStyle/>
          <a:p>
            <a:pPr marL="0" indent="0">
              <a:buNone/>
            </a:pPr>
            <a:r>
              <a:rPr lang="en-US" sz="1800" b="1" dirty="0">
                <a:solidFill>
                  <a:srgbClr val="FFFFFF"/>
                </a:solidFill>
              </a:rPr>
              <a:t>Improved Detection</a:t>
            </a:r>
            <a:endParaRPr lang="en-US" sz="1800" dirty="0"/>
          </a:p>
        </p:txBody>
      </p:sp>
      <p:sp>
        <p:nvSpPr>
          <p:cNvPr id="26" name="Text 19"/>
          <p:cNvSpPr txBox="1"/>
          <p:nvPr/>
        </p:nvSpPr>
        <p:spPr>
          <a:xfrm>
            <a:off x="7223760" y="4434840"/>
            <a:ext cx="4206240" cy="1371600"/>
          </a:xfrm>
          <a:prstGeom prst="rect">
            <a:avLst/>
          </a:prstGeom>
          <a:noFill/>
          <a:ln/>
        </p:spPr>
        <p:txBody>
          <a:bodyPr wrap="square" lIns="0" tIns="0" rIns="0" bIns="0" rtlCol="0" anchor="t"/>
          <a:lstStyle/>
          <a:p>
            <a:pPr marL="0" indent="0">
              <a:buNone/>
            </a:pPr>
            <a:r>
              <a:rPr lang="en-US" sz="1400" dirty="0">
                <a:solidFill>
                  <a:srgbClr val="A9B8D4"/>
                </a:solidFill>
              </a:rPr>
              <a:t>Better models, prompts and benchmark testing</a:t>
            </a:r>
            <a:endParaRPr lang="en-US" sz="1400" dirty="0"/>
          </a:p>
        </p:txBody>
      </p:sp>
      <p:sp>
        <p:nvSpPr>
          <p:cNvPr id="27" name="Text 20"/>
          <p:cNvSpPr txBox="1"/>
          <p:nvPr/>
        </p:nvSpPr>
        <p:spPr>
          <a:xfrm>
            <a:off x="10469880" y="3931920"/>
            <a:ext cx="1005840" cy="256032"/>
          </a:xfrm>
          <a:prstGeom prst="rect">
            <a:avLst/>
          </a:prstGeom>
          <a:solidFill>
            <a:srgbClr val="2A2410"/>
          </a:solidFill>
          <a:ln w="12700">
            <a:solidFill>
              <a:srgbClr val="FFB020"/>
            </a:solidFill>
          </a:ln>
        </p:spPr>
        <p:txBody>
          <a:bodyPr wrap="square" rtlCol="0" anchor="ctr"/>
          <a:lstStyle/>
          <a:p>
            <a:pPr marL="0" indent="0" algn="ctr">
              <a:buNone/>
            </a:pPr>
            <a:r>
              <a:rPr lang="en-US" sz="1000" b="1" dirty="0">
                <a:solidFill>
                  <a:srgbClr val="FFB020"/>
                </a:solidFill>
              </a:rPr>
              <a:t>PLANNED</a:t>
            </a:r>
            <a:endParaRPr lang="en-US" sz="1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9B8D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7315200" cy="731520"/>
          </a:xfrm>
          <a:prstGeom prst="rect">
            <a:avLst/>
          </a:prstGeom>
          <a:noFill/>
          <a:ln/>
        </p:spPr>
        <p:txBody>
          <a:bodyPr wrap="square" lIns="0" tIns="0" rIns="0" bIns="0" rtlCol="0" anchor="ctr"/>
          <a:lstStyle/>
          <a:p>
            <a:pPr marL="0" indent="0">
              <a:buNone/>
            </a:pPr>
            <a:r>
              <a:rPr lang="en-US" sz="4000" b="1" dirty="0">
                <a:solidFill>
                  <a:srgbClr val="FFFFFF"/>
                </a:solidFill>
              </a:rPr>
              <a:t>Conclusion</a:t>
            </a:r>
            <a:endParaRPr lang="en-US" sz="4000" dirty="0"/>
          </a:p>
        </p:txBody>
      </p:sp>
      <p:sp>
        <p:nvSpPr>
          <p:cNvPr id="3" name="Shape 1"/>
          <p:cNvSpPr/>
          <p:nvPr/>
        </p:nvSpPr>
        <p:spPr>
          <a:xfrm>
            <a:off x="731520" y="1554480"/>
            <a:ext cx="3383280" cy="3017520"/>
          </a:xfrm>
          <a:prstGeom prst="roundRect">
            <a:avLst>
              <a:gd name="adj" fmla="val 3636"/>
            </a:avLst>
          </a:prstGeom>
          <a:solidFill>
            <a:srgbClr val="12213D"/>
          </a:solidFill>
          <a:ln w="12700">
            <a:solidFill>
              <a:srgbClr val="1B3A66"/>
            </a:solidFill>
            <a:prstDash val="solid"/>
          </a:ln>
        </p:spPr>
      </p:sp>
      <p:sp>
        <p:nvSpPr>
          <p:cNvPr id="4" name="Shape 2"/>
          <p:cNvSpPr/>
          <p:nvPr/>
        </p:nvSpPr>
        <p:spPr>
          <a:xfrm>
            <a:off x="1005840" y="1828800"/>
            <a:ext cx="822960" cy="822960"/>
          </a:xfrm>
          <a:prstGeom prst="ellipse">
            <a:avLst/>
          </a:prstGeom>
          <a:solidFill>
            <a:srgbClr val="1B3A66"/>
          </a:solidFill>
          <a:ln w="12700">
            <a:solidFill>
              <a:srgbClr val="00E5FF"/>
            </a:solidFill>
            <a:prstDash val="solid"/>
          </a:ln>
        </p:spPr>
      </p:sp>
      <p:pic>
        <p:nvPicPr>
          <p:cNvPr id="5" name="Image 0" descr="preencoded.png"/>
          <p:cNvPicPr>
            <a:picLocks noChangeAspect="1"/>
          </p:cNvPicPr>
          <p:nvPr/>
        </p:nvPicPr>
        <p:blipFill>
          <a:blip r:embed="rId3"/>
          <a:stretch>
            <a:fillRect/>
          </a:stretch>
        </p:blipFill>
        <p:spPr>
          <a:xfrm>
            <a:off x="1188720" y="2011680"/>
            <a:ext cx="457200" cy="457200"/>
          </a:xfrm>
          <a:prstGeom prst="rect">
            <a:avLst/>
          </a:prstGeom>
        </p:spPr>
      </p:pic>
      <p:sp>
        <p:nvSpPr>
          <p:cNvPr id="6" name="Text 3"/>
          <p:cNvSpPr txBox="1"/>
          <p:nvPr/>
        </p:nvSpPr>
        <p:spPr>
          <a:xfrm>
            <a:off x="1005840" y="2834640"/>
            <a:ext cx="2834640" cy="457200"/>
          </a:xfrm>
          <a:prstGeom prst="rect">
            <a:avLst/>
          </a:prstGeom>
          <a:noFill/>
          <a:ln/>
        </p:spPr>
        <p:txBody>
          <a:bodyPr wrap="square" lIns="0" tIns="0" rIns="0" bIns="0" rtlCol="0" anchor="ctr"/>
          <a:lstStyle/>
          <a:p>
            <a:pPr marL="0" indent="0">
              <a:buNone/>
            </a:pPr>
            <a:r>
              <a:rPr lang="en-US" sz="2200" b="1" dirty="0">
                <a:solidFill>
                  <a:srgbClr val="00E5FF"/>
                </a:solidFill>
              </a:rPr>
              <a:t>Purpose</a:t>
            </a:r>
            <a:endParaRPr lang="en-US" sz="2200" dirty="0"/>
          </a:p>
        </p:txBody>
      </p:sp>
      <p:sp>
        <p:nvSpPr>
          <p:cNvPr id="7" name="Text 4"/>
          <p:cNvSpPr txBox="1"/>
          <p:nvPr/>
        </p:nvSpPr>
        <p:spPr>
          <a:xfrm>
            <a:off x="1005840" y="3337560"/>
            <a:ext cx="2834640" cy="1097280"/>
          </a:xfrm>
          <a:prstGeom prst="rect">
            <a:avLst/>
          </a:prstGeom>
          <a:noFill/>
          <a:ln/>
        </p:spPr>
        <p:txBody>
          <a:bodyPr wrap="square" lIns="0" tIns="0" rIns="0" bIns="0" rtlCol="0" anchor="t"/>
          <a:lstStyle/>
          <a:p>
            <a:pPr marL="0" indent="0">
              <a:buNone/>
            </a:pPr>
            <a:r>
              <a:rPr lang="en-US" sz="1600" dirty="0">
                <a:solidFill>
                  <a:srgbClr val="FFFFFF"/>
                </a:solidFill>
              </a:rPr>
              <a:t>Find and explain code vulnerabilities with AI</a:t>
            </a:r>
            <a:endParaRPr lang="en-US" sz="1600" dirty="0"/>
          </a:p>
        </p:txBody>
      </p:sp>
      <p:sp>
        <p:nvSpPr>
          <p:cNvPr id="8" name="Shape 5"/>
          <p:cNvSpPr/>
          <p:nvPr/>
        </p:nvSpPr>
        <p:spPr>
          <a:xfrm>
            <a:off x="4389120" y="1554480"/>
            <a:ext cx="3383280" cy="3017520"/>
          </a:xfrm>
          <a:prstGeom prst="roundRect">
            <a:avLst>
              <a:gd name="adj" fmla="val 3636"/>
            </a:avLst>
          </a:prstGeom>
          <a:solidFill>
            <a:srgbClr val="12213D"/>
          </a:solidFill>
          <a:ln w="12700">
            <a:solidFill>
              <a:srgbClr val="1B3A66"/>
            </a:solidFill>
            <a:prstDash val="solid"/>
          </a:ln>
        </p:spPr>
      </p:sp>
      <p:sp>
        <p:nvSpPr>
          <p:cNvPr id="9" name="Shape 6"/>
          <p:cNvSpPr/>
          <p:nvPr/>
        </p:nvSpPr>
        <p:spPr>
          <a:xfrm>
            <a:off x="4663440" y="1828800"/>
            <a:ext cx="822960" cy="822960"/>
          </a:xfrm>
          <a:prstGeom prst="ellipse">
            <a:avLst/>
          </a:prstGeom>
          <a:solidFill>
            <a:srgbClr val="1B3A66"/>
          </a:solidFill>
          <a:ln w="12700">
            <a:solidFill>
              <a:srgbClr val="00E5FF"/>
            </a:solidFill>
            <a:prstDash val="solid"/>
          </a:ln>
        </p:spPr>
      </p:sp>
      <p:pic>
        <p:nvPicPr>
          <p:cNvPr id="10" name="Image 1" descr="preencoded.png"/>
          <p:cNvPicPr>
            <a:picLocks noChangeAspect="1"/>
          </p:cNvPicPr>
          <p:nvPr/>
        </p:nvPicPr>
        <p:blipFill>
          <a:blip r:embed="rId4"/>
          <a:stretch>
            <a:fillRect/>
          </a:stretch>
        </p:blipFill>
        <p:spPr>
          <a:xfrm>
            <a:off x="4846320" y="2011680"/>
            <a:ext cx="457200" cy="457200"/>
          </a:xfrm>
          <a:prstGeom prst="rect">
            <a:avLst/>
          </a:prstGeom>
        </p:spPr>
      </p:pic>
      <p:sp>
        <p:nvSpPr>
          <p:cNvPr id="11" name="Text 7"/>
          <p:cNvSpPr txBox="1"/>
          <p:nvPr/>
        </p:nvSpPr>
        <p:spPr>
          <a:xfrm>
            <a:off x="4663440" y="2834640"/>
            <a:ext cx="2834640" cy="457200"/>
          </a:xfrm>
          <a:prstGeom prst="rect">
            <a:avLst/>
          </a:prstGeom>
          <a:noFill/>
          <a:ln/>
        </p:spPr>
        <p:txBody>
          <a:bodyPr wrap="square" lIns="0" tIns="0" rIns="0" bIns="0" rtlCol="0" anchor="ctr"/>
          <a:lstStyle/>
          <a:p>
            <a:pPr marL="0" indent="0">
              <a:buNone/>
            </a:pPr>
            <a:r>
              <a:rPr lang="en-US" sz="2200" b="1" dirty="0">
                <a:solidFill>
                  <a:srgbClr val="00E5FF"/>
                </a:solidFill>
              </a:rPr>
              <a:t>Importance</a:t>
            </a:r>
            <a:endParaRPr lang="en-US" sz="2200" dirty="0"/>
          </a:p>
        </p:txBody>
      </p:sp>
      <p:sp>
        <p:nvSpPr>
          <p:cNvPr id="12" name="Text 8"/>
          <p:cNvSpPr txBox="1"/>
          <p:nvPr/>
        </p:nvSpPr>
        <p:spPr>
          <a:xfrm>
            <a:off x="4663440" y="3337560"/>
            <a:ext cx="2834640" cy="1097280"/>
          </a:xfrm>
          <a:prstGeom prst="rect">
            <a:avLst/>
          </a:prstGeom>
          <a:noFill/>
          <a:ln/>
        </p:spPr>
        <p:txBody>
          <a:bodyPr wrap="square" lIns="0" tIns="0" rIns="0" bIns="0" rtlCol="0" anchor="t"/>
          <a:lstStyle/>
          <a:p>
            <a:pPr marL="0" indent="0">
              <a:buNone/>
            </a:pPr>
            <a:r>
              <a:rPr lang="en-US" sz="1600" dirty="0">
                <a:solidFill>
                  <a:srgbClr val="FFFFFF"/>
                </a:solidFill>
              </a:rPr>
              <a:t>Earlier detection supports safer, more secure software</a:t>
            </a:r>
            <a:endParaRPr lang="en-US" sz="1600" dirty="0"/>
          </a:p>
        </p:txBody>
      </p:sp>
      <p:sp>
        <p:nvSpPr>
          <p:cNvPr id="13" name="Shape 9"/>
          <p:cNvSpPr/>
          <p:nvPr/>
        </p:nvSpPr>
        <p:spPr>
          <a:xfrm>
            <a:off x="8046720" y="1554480"/>
            <a:ext cx="3383280" cy="3017520"/>
          </a:xfrm>
          <a:prstGeom prst="roundRect">
            <a:avLst>
              <a:gd name="adj" fmla="val 3636"/>
            </a:avLst>
          </a:prstGeom>
          <a:solidFill>
            <a:srgbClr val="12213D"/>
          </a:solidFill>
          <a:ln w="12700">
            <a:solidFill>
              <a:srgbClr val="1B3A66"/>
            </a:solidFill>
            <a:prstDash val="solid"/>
          </a:ln>
        </p:spPr>
      </p:sp>
      <p:sp>
        <p:nvSpPr>
          <p:cNvPr id="14" name="Shape 10"/>
          <p:cNvSpPr/>
          <p:nvPr/>
        </p:nvSpPr>
        <p:spPr>
          <a:xfrm>
            <a:off x="8321040" y="1828800"/>
            <a:ext cx="822960" cy="822960"/>
          </a:xfrm>
          <a:prstGeom prst="ellipse">
            <a:avLst/>
          </a:prstGeom>
          <a:solidFill>
            <a:srgbClr val="1B3A66"/>
          </a:solidFill>
          <a:ln w="12700">
            <a:solidFill>
              <a:srgbClr val="00E5FF"/>
            </a:solidFill>
            <a:prstDash val="solid"/>
          </a:ln>
        </p:spPr>
      </p:sp>
      <p:pic>
        <p:nvPicPr>
          <p:cNvPr id="15" name="Image 2" descr="preencoded.png"/>
          <p:cNvPicPr>
            <a:picLocks noChangeAspect="1"/>
          </p:cNvPicPr>
          <p:nvPr/>
        </p:nvPicPr>
        <p:blipFill>
          <a:blip r:embed="rId5"/>
          <a:stretch>
            <a:fillRect/>
          </a:stretch>
        </p:blipFill>
        <p:spPr>
          <a:xfrm>
            <a:off x="8503920" y="2011680"/>
            <a:ext cx="457200" cy="457200"/>
          </a:xfrm>
          <a:prstGeom prst="rect">
            <a:avLst/>
          </a:prstGeom>
        </p:spPr>
      </p:pic>
      <p:sp>
        <p:nvSpPr>
          <p:cNvPr id="16" name="Text 11"/>
          <p:cNvSpPr txBox="1"/>
          <p:nvPr/>
        </p:nvSpPr>
        <p:spPr>
          <a:xfrm>
            <a:off x="8321040" y="2834640"/>
            <a:ext cx="2834640" cy="457200"/>
          </a:xfrm>
          <a:prstGeom prst="rect">
            <a:avLst/>
          </a:prstGeom>
          <a:noFill/>
          <a:ln/>
        </p:spPr>
        <p:txBody>
          <a:bodyPr wrap="square" lIns="0" tIns="0" rIns="0" bIns="0" rtlCol="0" anchor="ctr"/>
          <a:lstStyle/>
          <a:p>
            <a:pPr marL="0" indent="0">
              <a:buNone/>
            </a:pPr>
            <a:r>
              <a:rPr lang="en-US" sz="2200" b="1" dirty="0">
                <a:solidFill>
                  <a:srgbClr val="00E5FF"/>
                </a:solidFill>
              </a:rPr>
              <a:t>Expected Impact</a:t>
            </a:r>
            <a:endParaRPr lang="en-US" sz="2200" dirty="0"/>
          </a:p>
        </p:txBody>
      </p:sp>
      <p:sp>
        <p:nvSpPr>
          <p:cNvPr id="17" name="Text 12"/>
          <p:cNvSpPr txBox="1"/>
          <p:nvPr/>
        </p:nvSpPr>
        <p:spPr>
          <a:xfrm>
            <a:off x="8321040" y="3337560"/>
            <a:ext cx="2834640" cy="1097280"/>
          </a:xfrm>
          <a:prstGeom prst="rect">
            <a:avLst/>
          </a:prstGeom>
          <a:noFill/>
          <a:ln/>
        </p:spPr>
        <p:txBody>
          <a:bodyPr wrap="square" lIns="0" tIns="0" rIns="0" bIns="0" rtlCol="0" anchor="t"/>
          <a:lstStyle/>
          <a:p>
            <a:pPr marL="0" indent="0">
              <a:buNone/>
            </a:pPr>
            <a:r>
              <a:rPr lang="en-US" sz="1600" dirty="0">
                <a:solidFill>
                  <a:srgbClr val="FFFFFF"/>
                </a:solidFill>
              </a:rPr>
              <a:t>Helps beginners and teams fix risks faster, with human review</a:t>
            </a:r>
            <a:endParaRPr lang="en-US" sz="1600" dirty="0"/>
          </a:p>
        </p:txBody>
      </p:sp>
      <p:sp>
        <p:nvSpPr>
          <p:cNvPr id="18" name="Text 13"/>
          <p:cNvSpPr txBox="1"/>
          <p:nvPr/>
        </p:nvSpPr>
        <p:spPr>
          <a:xfrm>
            <a:off x="731520" y="5120640"/>
            <a:ext cx="7315200" cy="640080"/>
          </a:xfrm>
          <a:prstGeom prst="rect">
            <a:avLst/>
          </a:prstGeom>
          <a:noFill/>
          <a:ln/>
        </p:spPr>
        <p:txBody>
          <a:bodyPr wrap="square" lIns="0" tIns="0" rIns="0" bIns="0" rtlCol="0" anchor="ctr"/>
          <a:lstStyle/>
          <a:p>
            <a:pPr marL="0" indent="0">
              <a:buNone/>
            </a:pPr>
            <a:r>
              <a:rPr lang="en-US" sz="3000" b="1" dirty="0">
                <a:solidFill>
                  <a:srgbClr val="FFFFFF"/>
                </a:solidFill>
              </a:rPr>
              <a:t>Thank </a:t>
            </a:r>
            <a:r>
              <a:rPr lang="en-US" sz="3000" b="1">
                <a:solidFill>
                  <a:srgbClr val="FFFFFF"/>
                </a:solidFill>
              </a:rPr>
              <a:t>you  |</a:t>
            </a:r>
            <a:endParaRPr lang="en-US" sz="3000" dirty="0"/>
          </a:p>
        </p:txBody>
      </p:sp>
    </p:spTree>
  </p:cSld>
  <p:clrMapOvr>
    <a:masterClrMapping/>
  </p:clrMapOvr>
</p:sld>
</file>

<file path=ppt/theme/theme1.xml><?xml version="1.0" encoding="utf-8"?>
<a:theme xmlns:a="http://schemas.openxmlformats.org/drawingml/2006/main" name="TraceFind">
  <a:themeElements>
    <a:clrScheme name="TraceFind">
      <a:dk1>
        <a:srgbClr val="0B1426"/>
      </a:dk1>
      <a:lt1>
        <a:srgbClr val="FFFFFF"/>
      </a:lt1>
      <a:dk2>
        <a:srgbClr val="12213D"/>
      </a:dk2>
      <a:lt2>
        <a:srgbClr val="DCE6F5"/>
      </a:lt2>
      <a:accent1>
        <a:srgbClr val="00E5FF"/>
      </a:accent1>
      <a:accent2>
        <a:srgbClr val="2F80ED"/>
      </a:accent2>
      <a:accent3>
        <a:srgbClr val="7C5CFF"/>
      </a:accent3>
      <a:accent4>
        <a:srgbClr val="39FF9C"/>
      </a:accent4>
      <a:accent5>
        <a:srgbClr val="FFB020"/>
      </a:accent5>
      <a:accent6>
        <a:srgbClr val="FF4D6D"/>
      </a:accent6>
      <a:hlink>
        <a:srgbClr val="00E5FF"/>
      </a:hlink>
      <a:folHlink>
        <a:srgbClr val="7C5CFF"/>
      </a:folHlink>
    </a:clrScheme>
    <a:fontScheme name="TraceFin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1444</Words>
  <Application>Microsoft Office PowerPoint</Application>
  <PresentationFormat>Widescreen</PresentationFormat>
  <Paragraphs>207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TraceFind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TraceFind AI</dc:title>
  <dc:subject>PptxGenJS Presentation</dc:subject>
  <dc:creator>PptxGenJS</dc:creator>
  <cp:lastModifiedBy>jayaramreddy janipally</cp:lastModifiedBy>
  <cp:revision>3</cp:revision>
  <dcterms:created xsi:type="dcterms:W3CDTF">2026-10-29T05:31:22Z</dcterms:created>
  <dcterms:modified xsi:type="dcterms:W3CDTF">2026-10-29T05:35:20Z</dcterms:modified>
</cp:coreProperties>
</file>